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2.svg" ContentType="image/svg+xml"/>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83" r:id="rId12"/>
    <p:sldId id="266" r:id="rId13"/>
    <p:sldId id="267" r:id="rId14"/>
    <p:sldId id="268" r:id="rId15"/>
    <p:sldId id="269" r:id="rId16"/>
    <p:sldId id="284" r:id="rId17"/>
    <p:sldId id="270" r:id="rId18"/>
    <p:sldId id="271" r:id="rId19"/>
    <p:sldId id="272" r:id="rId20"/>
    <p:sldId id="273" r:id="rId21"/>
    <p:sldId id="288" r:id="rId22"/>
    <p:sldId id="282" r:id="rId23"/>
    <p:sldId id="274" r:id="rId24"/>
    <p:sldId id="275" r:id="rId25"/>
    <p:sldId id="276" r:id="rId26"/>
    <p:sldId id="277" r:id="rId27"/>
    <p:sldId id="278" r:id="rId28"/>
    <p:sldId id="279" r:id="rId29"/>
    <p:sldId id="286" r:id="rId30"/>
    <p:sldId id="280" r:id="rId31"/>
    <p:sldId id="281" r:id="rId32"/>
    <p:sldId id="285" r:id="rId33"/>
  </p:sldIdLst>
  <p:sldSz cx="18288000" cy="10287000"/>
  <p:notesSz cx="6858000" cy="9144000"/>
  <p:embeddedFontLst>
    <p:embeddedFont>
      <p:font typeface="Montserrat" panose="00000500000000000000" pitchFamily="2" charset="0"/>
      <p:regular r:id="rId34"/>
    </p:embeddedFont>
    <p:embeddedFont>
      <p:font typeface="Montserrat Bold" panose="00000800000000000000" charset="0"/>
      <p:regular r:id="rId35"/>
    </p:embeddedFont>
    <p:embeddedFont>
      <p:font typeface="Segoe UI" panose="020B0502040204020203"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svg"/><Relationship Id="rId3"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svg"/><Relationship Id="rId3" Type="http://schemas.openxmlformats.org/officeDocument/2006/relationships/image" Target="../media/image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svg"/><Relationship Id="rId3" Type="http://schemas.openxmlformats.org/officeDocument/2006/relationships/image" Target="../media/image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svg"/><Relationship Id="rId3" Type="http://schemas.openxmlformats.org/officeDocument/2006/relationships/image" Target="../media/image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svg"/><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svg"/><Relationship Id="rId4" Type="http://schemas.openxmlformats.org/officeDocument/2006/relationships/image" Target="../media/image2.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13.png"/><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extBox 2"/>
          <p:cNvSpPr txBox="1"/>
          <p:nvPr/>
        </p:nvSpPr>
        <p:spPr>
          <a:xfrm>
            <a:off x="1028700" y="3641198"/>
            <a:ext cx="12690641" cy="37338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PHILIPPINES REAL ESTATE MARKET ANALYSIS AND PRICE PREDICTION USING R </a:t>
            </a:r>
          </a:p>
        </p:txBody>
      </p:sp>
      <p:sp>
        <p:nvSpPr>
          <p:cNvPr id="6" name="TextBox 6"/>
          <p:cNvSpPr txBox="1"/>
          <p:nvPr/>
        </p:nvSpPr>
        <p:spPr>
          <a:xfrm>
            <a:off x="1028700" y="962025"/>
            <a:ext cx="5839339" cy="605262"/>
          </a:xfrm>
          <a:prstGeom prst="rect">
            <a:avLst/>
          </a:prstGeom>
        </p:spPr>
        <p:txBody>
          <a:bodyPr lIns="0" tIns="0" rIns="0" bIns="0" rtlCol="0" anchor="t">
            <a:spAutoFit/>
          </a:bodyPr>
          <a:lstStyle/>
          <a:p>
            <a:pPr algn="l">
              <a:lnSpc>
                <a:spcPts val="4964"/>
              </a:lnSpc>
              <a:defRPr sz="3600" b="1">
                <a:solidFill>
                  <a:srgbClr val="57306E"/>
                </a:solidFill>
                <a:latin typeface="Montserrat"/>
              </a:defRPr>
            </a:pPr>
            <a:r>
              <a:rPr dirty="0"/>
              <a:t>ELECTIVE 3 – BSIT241-C</a:t>
            </a:r>
          </a:p>
        </p:txBody>
      </p:sp>
      <p:sp>
        <p:nvSpPr>
          <p:cNvPr id="7" name="AutoShape 7"/>
          <p:cNvSpPr/>
          <p:nvPr/>
        </p:nvSpPr>
        <p:spPr>
          <a:xfrm>
            <a:off x="1028700" y="1726831"/>
            <a:ext cx="13310931" cy="19050"/>
          </a:xfrm>
          <a:prstGeom prst="line">
            <a:avLst/>
          </a:prstGeom>
          <a:ln w="38100" cap="flat">
            <a:solidFill>
              <a:srgbClr val="F8F3ED"/>
            </a:solidFill>
            <a:prstDash val="solid"/>
            <a:headEnd type="none" w="sm" len="sm"/>
            <a:tailEnd type="none" w="sm" len="sm"/>
          </a:ln>
        </p:spPr>
        <p:txBody>
          <a:bodyPr/>
          <a:lstStyle/>
          <a:p>
            <a:endParaRPr/>
          </a:p>
        </p:txBody>
      </p:sp>
      <p:sp>
        <p:nvSpPr>
          <p:cNvPr id="8" name="Freeform 8"/>
          <p:cNvSpPr/>
          <p:nvPr/>
        </p:nvSpPr>
        <p:spPr>
          <a:xfrm>
            <a:off x="14503937" y="0"/>
            <a:ext cx="3769315" cy="2241029"/>
          </a:xfrm>
          <a:custGeom>
            <a:avLst/>
            <a:gdLst/>
            <a:ahLst/>
            <a:cxnLst/>
            <a:rect l="l" t="t" r="r" b="b"/>
            <a:pathLst>
              <a:path w="3769315" h="2241029">
                <a:moveTo>
                  <a:pt x="0" y="0"/>
                </a:moveTo>
                <a:lnTo>
                  <a:pt x="3769314" y="0"/>
                </a:lnTo>
                <a:lnTo>
                  <a:pt x="3769314" y="2241029"/>
                </a:lnTo>
                <a:lnTo>
                  <a:pt x="0" y="22410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dirty="0"/>
          </a:p>
        </p:txBody>
      </p:sp>
      <p:sp>
        <p:nvSpPr>
          <p:cNvPr id="9" name="Freeform 9"/>
          <p:cNvSpPr/>
          <p:nvPr/>
        </p:nvSpPr>
        <p:spPr>
          <a:xfrm>
            <a:off x="16038669" y="8258884"/>
            <a:ext cx="3105289" cy="3105289"/>
          </a:xfrm>
          <a:custGeom>
            <a:avLst/>
            <a:gdLst/>
            <a:ahLst/>
            <a:cxnLst/>
            <a:rect l="l" t="t" r="r" b="b"/>
            <a:pathLst>
              <a:path w="3105289" h="3105289">
                <a:moveTo>
                  <a:pt x="0" y="0"/>
                </a:moveTo>
                <a:lnTo>
                  <a:pt x="3105288" y="0"/>
                </a:lnTo>
                <a:lnTo>
                  <a:pt x="3105288" y="3105289"/>
                </a:lnTo>
                <a:lnTo>
                  <a:pt x="0" y="3105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0" name="TextBox 10"/>
          <p:cNvSpPr txBox="1"/>
          <p:nvPr/>
        </p:nvSpPr>
        <p:spPr>
          <a:xfrm>
            <a:off x="1028700" y="8050954"/>
            <a:ext cx="12690641" cy="965835"/>
          </a:xfrm>
          <a:prstGeom prst="rect">
            <a:avLst/>
          </a:prstGeom>
        </p:spPr>
        <p:txBody>
          <a:bodyPr lIns="0" tIns="0" rIns="0" bIns="0" rtlCol="0" anchor="t">
            <a:spAutoFit/>
          </a:bodyPr>
          <a:lstStyle/>
          <a:p>
            <a:pPr algn="l">
              <a:lnSpc>
                <a:spcPts val="3689"/>
              </a:lnSpc>
              <a:defRPr sz="2800" b="1">
                <a:solidFill>
                  <a:srgbClr val="57306E"/>
                </a:solidFill>
                <a:latin typeface="Montserrat"/>
              </a:defRPr>
            </a:pPr>
            <a:r>
              <a:t>Dean Warren P. Booc</a:t>
            </a:r>
          </a:p>
          <a:p>
            <a:pPr>
              <a:defRPr sz="2800" b="1">
                <a:solidFill>
                  <a:srgbClr val="57306E"/>
                </a:solidFill>
                <a:latin typeface="Montserrat"/>
              </a:defRPr>
            </a:pPr>
            <a:r>
              <a:t>Peneil Francis S. Cayaco</a:t>
            </a:r>
          </a:p>
          <a:p>
            <a:pPr>
              <a:spcBef>
                <a:spcPts val="800"/>
              </a:spcBef>
              <a:defRPr sz="2200" b="0">
                <a:solidFill>
                  <a:srgbClr val="57306E"/>
                </a:solidFill>
                <a:latin typeface="Montserrat"/>
              </a:defRPr>
            </a:pPr>
            <a:r>
              <a:t>Instructor: Joseph L. Domingo | Academic Year: 2026 - 2027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extBox 2"/>
          <p:cNvSpPr txBox="1"/>
          <p:nvPr/>
        </p:nvSpPr>
        <p:spPr>
          <a:xfrm>
            <a:off x="1028700" y="1714110"/>
            <a:ext cx="14041510"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PROJECT DESCRIPTION</a:t>
            </a:r>
          </a:p>
        </p:txBody>
      </p:sp>
      <p:sp>
        <p:nvSpPr>
          <p:cNvPr id="3" name="Freeform 3"/>
          <p:cNvSpPr/>
          <p:nvPr/>
        </p:nvSpPr>
        <p:spPr>
          <a:xfrm>
            <a:off x="14782860" y="-203351"/>
            <a:ext cx="3769315" cy="2241029"/>
          </a:xfrm>
          <a:custGeom>
            <a:avLst/>
            <a:gdLst/>
            <a:ahLst/>
            <a:cxnLst/>
            <a:rect l="l" t="t" r="r" b="b"/>
            <a:pathLst>
              <a:path w="3769315" h="2241029">
                <a:moveTo>
                  <a:pt x="0" y="0"/>
                </a:moveTo>
                <a:lnTo>
                  <a:pt x="3769315" y="0"/>
                </a:lnTo>
                <a:lnTo>
                  <a:pt x="3769315" y="2241029"/>
                </a:lnTo>
                <a:lnTo>
                  <a:pt x="0" y="22410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4" name="AutoShape 4"/>
          <p:cNvSpPr/>
          <p:nvPr/>
        </p:nvSpPr>
        <p:spPr>
          <a:xfrm>
            <a:off x="1028700" y="2914207"/>
            <a:ext cx="7815471" cy="0"/>
          </a:xfrm>
          <a:prstGeom prst="line">
            <a:avLst/>
          </a:prstGeom>
          <a:ln w="38100" cap="flat">
            <a:solidFill>
              <a:srgbClr val="6B4780"/>
            </a:solidFill>
            <a:prstDash val="solid"/>
            <a:headEnd type="none" w="sm" len="sm"/>
            <a:tailEnd type="none" w="sm" len="sm"/>
          </a:ln>
        </p:spPr>
        <p:txBody>
          <a:bodyPr/>
          <a:lstStyle/>
          <a:p>
            <a:endParaRPr/>
          </a:p>
        </p:txBody>
      </p:sp>
      <p:sp>
        <p:nvSpPr>
          <p:cNvPr id="5" name="TextBox 5"/>
          <p:cNvSpPr txBox="1"/>
          <p:nvPr/>
        </p:nvSpPr>
        <p:spPr>
          <a:xfrm>
            <a:off x="1028700" y="3443421"/>
            <a:ext cx="16230600" cy="4248149"/>
          </a:xfrm>
          <a:prstGeom prst="rect">
            <a:avLst/>
          </a:prstGeom>
        </p:spPr>
        <p:txBody>
          <a:bodyPr lIns="0" tIns="0" rIns="0" bIns="0" rtlCol="0" anchor="t">
            <a:spAutoFit/>
          </a:bodyPr>
          <a:lstStyle/>
          <a:p>
            <a:pPr algn="just">
              <a:lnSpc>
                <a:spcPct val="115000"/>
              </a:lnSpc>
              <a:spcAft>
                <a:spcPts val="1200"/>
              </a:spcAft>
            </a:pPr>
            <a:r>
              <a:rPr sz="2400" b="1">
                <a:solidFill>
                  <a:srgbClr val="57306E"/>
                </a:solidFill>
                <a:latin typeface="Montserrat"/>
              </a:rPr>
              <a:t>Quantitative Analytics &amp; Business Value</a:t>
            </a:r>
          </a:p>
          <a:p>
            <a:pPr>
              <a:lnSpc>
                <a:spcPct val="115000"/>
              </a:lnSpc>
              <a:spcAft>
                <a:spcPts val="1400"/>
              </a:spcAft>
            </a:pPr>
            <a:r>
              <a:rPr sz="2000" b="0">
                <a:solidFill>
                  <a:srgbClr val="57306E"/>
                </a:solidFill>
                <a:latin typeface="Montserrat"/>
              </a:rPr>
              <a:t>Modern real estate valuation relies on quantitative frameworks rather than intuition. Richardson, Teeter, and Terrell describe analytics as a rigorous process: identifying business questions, testing, refining, and communicating findings (2019, p. v). Verhoef et al. emphasize that 'Value creation should be the ultimate objective of every data science strategy,' balancing Value to Customer (V2C) and Value to Firm (V2F) (2022, p. 7).</a:t>
            </a:r>
          </a:p>
          <a:p>
            <a:pPr>
              <a:lnSpc>
                <a:spcPct val="115000"/>
              </a:lnSpc>
              <a:spcAft>
                <a:spcPts val="1200"/>
              </a:spcAft>
            </a:pPr>
            <a:r>
              <a:rPr sz="2400" b="1">
                <a:solidFill>
                  <a:srgbClr val="57306E"/>
                </a:solidFill>
                <a:latin typeface="Montserrat"/>
              </a:rPr>
              <a:t>Empirical Foundation &amp; Interactive Deliverables</a:t>
            </a:r>
          </a:p>
          <a:p>
            <a:pPr>
              <a:lnSpc>
                <a:spcPct val="115000"/>
              </a:lnSpc>
              <a:spcAft>
                <a:spcPts val="600"/>
              </a:spcAft>
            </a:pPr>
            <a:r>
              <a:rPr sz="2000" b="0">
                <a:solidFill>
                  <a:srgbClr val="57306E"/>
                </a:solidFill>
                <a:latin typeface="Montserrat"/>
              </a:rPr>
              <a:t>This project analyzes 241,496 property listings in the Philippines across 17 administrative regions. In addition to econometric modeling, the project delivers an operational decision-support valuation dashboard (R Shiny / Plotly) that empowers homebuyers and investors with real-time algorithmic property pricing.</a:t>
            </a:r>
          </a:p>
        </p:txBody>
      </p:sp>
      <p:sp>
        <p:nvSpPr>
          <p:cNvPr id="6" name="Freeform 6"/>
          <p:cNvSpPr/>
          <p:nvPr/>
        </p:nvSpPr>
        <p:spPr>
          <a:xfrm>
            <a:off x="16038669" y="8258884"/>
            <a:ext cx="3105289" cy="3105289"/>
          </a:xfrm>
          <a:custGeom>
            <a:avLst/>
            <a:gdLst/>
            <a:ahLst/>
            <a:cxnLst/>
            <a:rect l="l" t="t" r="r" b="b"/>
            <a:pathLst>
              <a:path w="3105289" h="3105289">
                <a:moveTo>
                  <a:pt x="0" y="0"/>
                </a:moveTo>
                <a:lnTo>
                  <a:pt x="3105288" y="0"/>
                </a:lnTo>
                <a:lnTo>
                  <a:pt x="3105288" y="3105289"/>
                </a:lnTo>
                <a:lnTo>
                  <a:pt x="0" y="3105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2914207"/>
            <a:ext cx="6085195" cy="0"/>
          </a:xfrm>
          <a:prstGeom prst="line">
            <a:avLst/>
          </a:prstGeom>
          <a:ln w="38100" cap="flat">
            <a:solidFill>
              <a:srgbClr val="6B4780"/>
            </a:solidFill>
            <a:prstDash val="solid"/>
            <a:headEnd type="none" w="sm" len="sm"/>
            <a:tailEnd type="none" w="sm" len="sm"/>
          </a:ln>
        </p:spPr>
        <p:txBody>
          <a:bodyPr/>
          <a:lstStyle/>
          <a:p>
            <a:endParaRPr/>
          </a:p>
        </p:txBody>
      </p:sp>
      <p:sp>
        <p:nvSpPr>
          <p:cNvPr id="3" name="Freeform 3"/>
          <p:cNvSpPr/>
          <p:nvPr/>
        </p:nvSpPr>
        <p:spPr>
          <a:xfrm flipV="1">
            <a:off x="13540889" y="-401521"/>
            <a:ext cx="2235138" cy="3315728"/>
          </a:xfrm>
          <a:custGeom>
            <a:avLst/>
            <a:gdLst/>
            <a:ahLst/>
            <a:cxnLst/>
            <a:rect l="l" t="t" r="r" b="b"/>
            <a:pathLst>
              <a:path w="2235138" h="3315728">
                <a:moveTo>
                  <a:pt x="0" y="3315728"/>
                </a:moveTo>
                <a:lnTo>
                  <a:pt x="2235137" y="3315728"/>
                </a:lnTo>
                <a:lnTo>
                  <a:pt x="2235137" y="0"/>
                </a:lnTo>
                <a:lnTo>
                  <a:pt x="0" y="0"/>
                </a:lnTo>
                <a:lnTo>
                  <a:pt x="0" y="3315728"/>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4" name="TextBox 4"/>
          <p:cNvSpPr txBox="1"/>
          <p:nvPr/>
        </p:nvSpPr>
        <p:spPr>
          <a:xfrm>
            <a:off x="1028700" y="1714110"/>
            <a:ext cx="9313999"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PROJECT SCOPE</a:t>
            </a:r>
          </a:p>
        </p:txBody>
      </p:sp>
      <p:sp>
        <p:nvSpPr>
          <p:cNvPr id="5" name="TextBox 5"/>
          <p:cNvSpPr txBox="1"/>
          <p:nvPr/>
        </p:nvSpPr>
        <p:spPr>
          <a:xfrm>
            <a:off x="1028700" y="3581068"/>
            <a:ext cx="16230600" cy="4781549"/>
          </a:xfrm>
          <a:prstGeom prst="rect">
            <a:avLst/>
          </a:prstGeom>
        </p:spPr>
        <p:txBody>
          <a:bodyPr lIns="0" tIns="0" rIns="0" bIns="0" rtlCol="0" anchor="t">
            <a:spAutoFit/>
          </a:bodyPr>
          <a:lstStyle/>
          <a:p>
            <a:pPr algn="just">
              <a:lnSpc>
                <a:spcPts val="4200"/>
              </a:lnSpc>
            </a:pPr>
            <a:r>
              <a:rPr lang="en-US" sz="3000">
                <a:solidFill>
                  <a:srgbClr val="57306E"/>
                </a:solidFill>
                <a:latin typeface="Montserrat"/>
                <a:ea typeface="Montserrat"/>
                <a:cs typeface="Montserrat"/>
                <a:sym typeface="Montserrat"/>
              </a:rPr>
              <a:t>This project analyzes a Kaggle dataset of 241,496 Philippine property listings, including property type, asking price, floor area, bedrooms, bathrooms, and location. It aims to identify the patterns and factors that influence property prices and to build a statistical model that predicts them. The results are intended for data analytics students, prospective buyers, real estate agents, and investors, and are presented simply through exploration, visualization, and modeling.</a:t>
            </a:r>
          </a:p>
          <a:p>
            <a:pPr algn="just">
              <a:lnSpc>
                <a:spcPts val="4200"/>
              </a:lnSpc>
            </a:pPr>
            <a:endParaRPr lang="en-US" sz="3000">
              <a:solidFill>
                <a:srgbClr val="57306E"/>
              </a:solidFill>
              <a:latin typeface="Montserrat"/>
              <a:ea typeface="Montserrat"/>
              <a:cs typeface="Montserrat"/>
              <a:sym typeface="Montserrat"/>
            </a:endParaRPr>
          </a:p>
          <a:p>
            <a:pPr algn="just">
              <a:lnSpc>
                <a:spcPts val="4200"/>
              </a:lnSpc>
            </a:pPr>
            <a:r>
              <a:rPr lang="en-US" sz="3000">
                <a:solidFill>
                  <a:srgbClr val="57306E"/>
                </a:solidFill>
                <a:latin typeface="Montserrat"/>
                <a:ea typeface="Montserrat"/>
                <a:cs typeface="Montserrat"/>
                <a:sym typeface="Montserrat"/>
              </a:rPr>
              <a:t>It analyzes for-sale property listings in the Philippines using R, from cleaning to price prediction, and excludes rentals, live market data, and financial or legal advice.</a:t>
            </a:r>
          </a:p>
        </p:txBody>
      </p:sp>
      <p:sp>
        <p:nvSpPr>
          <p:cNvPr id="6" name="Freeform 6"/>
          <p:cNvSpPr/>
          <p:nvPr/>
        </p:nvSpPr>
        <p:spPr>
          <a:xfrm>
            <a:off x="13105813" y="8572918"/>
            <a:ext cx="3105289" cy="3105289"/>
          </a:xfrm>
          <a:custGeom>
            <a:avLst/>
            <a:gdLst/>
            <a:ahLst/>
            <a:cxnLst/>
            <a:rect l="l" t="t" r="r" b="b"/>
            <a:pathLst>
              <a:path w="3105289" h="3105289">
                <a:moveTo>
                  <a:pt x="0" y="0"/>
                </a:moveTo>
                <a:lnTo>
                  <a:pt x="3105289" y="0"/>
                </a:lnTo>
                <a:lnTo>
                  <a:pt x="3105289" y="3105288"/>
                </a:lnTo>
                <a:lnTo>
                  <a:pt x="0" y="31052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3081202"/>
            <a:ext cx="6085195" cy="0"/>
          </a:xfrm>
          <a:prstGeom prst="line">
            <a:avLst/>
          </a:prstGeom>
          <a:ln w="38100" cap="flat">
            <a:solidFill>
              <a:srgbClr val="6B4780"/>
            </a:solidFill>
            <a:prstDash val="solid"/>
            <a:headEnd type="none" w="sm" len="sm"/>
            <a:tailEnd type="none" w="sm" len="sm"/>
          </a:ln>
        </p:spPr>
        <p:txBody>
          <a:bodyPr/>
          <a:lstStyle/>
          <a:p>
            <a:endParaRPr/>
          </a:p>
        </p:txBody>
      </p:sp>
      <p:sp>
        <p:nvSpPr>
          <p:cNvPr id="3" name="Freeform 3"/>
          <p:cNvSpPr/>
          <p:nvPr/>
        </p:nvSpPr>
        <p:spPr>
          <a:xfrm flipV="1">
            <a:off x="13540889" y="-401521"/>
            <a:ext cx="2235138" cy="3315728"/>
          </a:xfrm>
          <a:custGeom>
            <a:avLst/>
            <a:gdLst/>
            <a:ahLst/>
            <a:cxnLst/>
            <a:rect l="l" t="t" r="r" b="b"/>
            <a:pathLst>
              <a:path w="2235138" h="3315728">
                <a:moveTo>
                  <a:pt x="0" y="3315728"/>
                </a:moveTo>
                <a:lnTo>
                  <a:pt x="2235137" y="3315728"/>
                </a:lnTo>
                <a:lnTo>
                  <a:pt x="2235137" y="0"/>
                </a:lnTo>
                <a:lnTo>
                  <a:pt x="0" y="0"/>
                </a:lnTo>
                <a:lnTo>
                  <a:pt x="0" y="3315728"/>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4" name="TextBox 4"/>
          <p:cNvSpPr txBox="1"/>
          <p:nvPr/>
        </p:nvSpPr>
        <p:spPr>
          <a:xfrm>
            <a:off x="1028700" y="1881105"/>
            <a:ext cx="12382734"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PROBLEM STATEMENT</a:t>
            </a:r>
          </a:p>
        </p:txBody>
      </p:sp>
      <p:sp>
        <p:nvSpPr>
          <p:cNvPr id="5" name="TextBox 5"/>
          <p:cNvSpPr txBox="1"/>
          <p:nvPr/>
        </p:nvSpPr>
        <p:spPr>
          <a:xfrm>
            <a:off x="1028700" y="3850791"/>
            <a:ext cx="16230600" cy="4248149"/>
          </a:xfrm>
          <a:prstGeom prst="rect">
            <a:avLst/>
          </a:prstGeom>
        </p:spPr>
        <p:txBody>
          <a:bodyPr lIns="0" tIns="0" rIns="0" bIns="0" rtlCol="0" anchor="t">
            <a:spAutoFit/>
          </a:bodyPr>
          <a:lstStyle/>
          <a:p>
            <a:pPr algn="just">
              <a:lnSpc>
                <a:spcPts val="4200"/>
              </a:lnSpc>
            </a:pPr>
            <a:r>
              <a:rPr lang="en-US" sz="3000">
                <a:solidFill>
                  <a:srgbClr val="57306E"/>
                </a:solidFill>
                <a:latin typeface="Montserrat"/>
                <a:ea typeface="Montserrat"/>
                <a:cs typeface="Montserrat"/>
                <a:sym typeface="Montserrat"/>
              </a:rPr>
              <a:t>Many Filipinos, including first-time buyers and investors, struggle to understand why property prices vary so widely. Without that understanding, buyers may overpay and sellers may underprice. Pricing by gut feeling is inefficient, and data analytics offers a systematic way to “answer fundamental business and accounting questions and create value” (Richardson, Teeter, &amp; Terrell, 2019, p. iv-v). This project analyzes Philippine listing data to identify what drives asking prices and to build a basic model that estimates property value from measurable features such as property type and floor area.</a:t>
            </a:r>
          </a:p>
        </p:txBody>
      </p:sp>
      <p:sp>
        <p:nvSpPr>
          <p:cNvPr id="6" name="Freeform 6"/>
          <p:cNvSpPr/>
          <p:nvPr/>
        </p:nvSpPr>
        <p:spPr>
          <a:xfrm>
            <a:off x="13105813" y="8572918"/>
            <a:ext cx="3105289" cy="3105289"/>
          </a:xfrm>
          <a:custGeom>
            <a:avLst/>
            <a:gdLst/>
            <a:ahLst/>
            <a:cxnLst/>
            <a:rect l="l" t="t" r="r" b="b"/>
            <a:pathLst>
              <a:path w="3105289" h="3105289">
                <a:moveTo>
                  <a:pt x="0" y="0"/>
                </a:moveTo>
                <a:lnTo>
                  <a:pt x="3105289" y="0"/>
                </a:lnTo>
                <a:lnTo>
                  <a:pt x="3105289" y="3105288"/>
                </a:lnTo>
                <a:lnTo>
                  <a:pt x="0" y="31052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2894589"/>
            <a:ext cx="6085195" cy="0"/>
          </a:xfrm>
          <a:prstGeom prst="line">
            <a:avLst/>
          </a:prstGeom>
          <a:ln w="38100" cap="flat">
            <a:solidFill>
              <a:srgbClr val="6B4780"/>
            </a:solidFill>
            <a:prstDash val="solid"/>
            <a:headEnd type="none" w="sm" len="sm"/>
            <a:tailEnd type="none" w="sm" len="sm"/>
          </a:ln>
        </p:spPr>
        <p:txBody>
          <a:bodyPr/>
          <a:lstStyle/>
          <a:p>
            <a:endParaRPr/>
          </a:p>
        </p:txBody>
      </p:sp>
      <p:sp>
        <p:nvSpPr>
          <p:cNvPr id="3" name="Freeform 3"/>
          <p:cNvSpPr/>
          <p:nvPr/>
        </p:nvSpPr>
        <p:spPr>
          <a:xfrm flipV="1">
            <a:off x="13540889" y="-401521"/>
            <a:ext cx="2235138" cy="3315728"/>
          </a:xfrm>
          <a:custGeom>
            <a:avLst/>
            <a:gdLst/>
            <a:ahLst/>
            <a:cxnLst/>
            <a:rect l="l" t="t" r="r" b="b"/>
            <a:pathLst>
              <a:path w="2235138" h="3315728">
                <a:moveTo>
                  <a:pt x="0" y="3315728"/>
                </a:moveTo>
                <a:lnTo>
                  <a:pt x="2235137" y="3315728"/>
                </a:lnTo>
                <a:lnTo>
                  <a:pt x="2235137" y="0"/>
                </a:lnTo>
                <a:lnTo>
                  <a:pt x="0" y="0"/>
                </a:lnTo>
                <a:lnTo>
                  <a:pt x="0" y="3315728"/>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4" name="TextBox 4"/>
          <p:cNvSpPr txBox="1"/>
          <p:nvPr/>
        </p:nvSpPr>
        <p:spPr>
          <a:xfrm>
            <a:off x="1028700" y="1694493"/>
            <a:ext cx="12382734"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OBJECTIVES</a:t>
            </a:r>
          </a:p>
        </p:txBody>
      </p:sp>
      <p:sp>
        <p:nvSpPr>
          <p:cNvPr id="5" name="TextBox 5"/>
          <p:cNvSpPr txBox="1"/>
          <p:nvPr/>
        </p:nvSpPr>
        <p:spPr>
          <a:xfrm>
            <a:off x="1028700" y="3332423"/>
            <a:ext cx="16230600" cy="3181349"/>
          </a:xfrm>
          <a:prstGeom prst="rect">
            <a:avLst/>
          </a:prstGeom>
        </p:spPr>
        <p:txBody>
          <a:bodyPr lIns="0" tIns="0" rIns="0" bIns="0" rtlCol="0" anchor="t">
            <a:spAutoFit/>
          </a:bodyPr>
          <a:lstStyle/>
          <a:p>
            <a:pPr algn="just">
              <a:lnSpc>
                <a:spcPts val="4200"/>
              </a:lnSpc>
            </a:pPr>
            <a:r>
              <a:rPr lang="en-US" sz="3000" b="1">
                <a:solidFill>
                  <a:srgbClr val="57306E"/>
                </a:solidFill>
                <a:latin typeface="Montserrat Bold"/>
                <a:ea typeface="Montserrat Bold"/>
                <a:cs typeface="Montserrat Bold"/>
                <a:sym typeface="Montserrat Bold"/>
              </a:rPr>
              <a:t>General Objective</a:t>
            </a:r>
          </a:p>
          <a:p>
            <a:pPr algn="just">
              <a:lnSpc>
                <a:spcPts val="4200"/>
              </a:lnSpc>
            </a:pPr>
            <a:r>
              <a:rPr lang="en-US" sz="3000">
                <a:solidFill>
                  <a:srgbClr val="57306E"/>
                </a:solidFill>
                <a:latin typeface="Montserrat"/>
                <a:ea typeface="Montserrat"/>
                <a:cs typeface="Montserrat"/>
                <a:sym typeface="Montserrat"/>
              </a:rPr>
              <a:t>The objective of this project is to analyze the Philippines Real Estate Asking Prices data set using R in RStudio to determine factors that influence the price of properties and create a predictive model that can estimate the value of a property based on its features and location. </a:t>
            </a:r>
          </a:p>
          <a:p>
            <a:pPr algn="just">
              <a:lnSpc>
                <a:spcPts val="4200"/>
              </a:lnSpc>
            </a:pPr>
            <a:endParaRPr lang="en-US" sz="3000">
              <a:solidFill>
                <a:srgbClr val="57306E"/>
              </a:solidFill>
              <a:latin typeface="Montserrat"/>
              <a:ea typeface="Montserrat"/>
              <a:cs typeface="Montserrat"/>
              <a:sym typeface="Montserrat"/>
            </a:endParaRPr>
          </a:p>
        </p:txBody>
      </p:sp>
      <p:sp>
        <p:nvSpPr>
          <p:cNvPr id="6" name="Freeform 6"/>
          <p:cNvSpPr/>
          <p:nvPr/>
        </p:nvSpPr>
        <p:spPr>
          <a:xfrm>
            <a:off x="13105813" y="8572918"/>
            <a:ext cx="3105289" cy="3105289"/>
          </a:xfrm>
          <a:custGeom>
            <a:avLst/>
            <a:gdLst/>
            <a:ahLst/>
            <a:cxnLst/>
            <a:rect l="l" t="t" r="r" b="b"/>
            <a:pathLst>
              <a:path w="3105289" h="3105289">
                <a:moveTo>
                  <a:pt x="0" y="0"/>
                </a:moveTo>
                <a:lnTo>
                  <a:pt x="3105289" y="0"/>
                </a:lnTo>
                <a:lnTo>
                  <a:pt x="3105289" y="3105288"/>
                </a:lnTo>
                <a:lnTo>
                  <a:pt x="0" y="31052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2894589"/>
            <a:ext cx="6085195" cy="0"/>
          </a:xfrm>
          <a:prstGeom prst="line">
            <a:avLst/>
          </a:prstGeom>
          <a:ln w="38100" cap="flat">
            <a:solidFill>
              <a:srgbClr val="6B4780"/>
            </a:solidFill>
            <a:prstDash val="solid"/>
            <a:headEnd type="none" w="sm" len="sm"/>
            <a:tailEnd type="none" w="sm" len="sm"/>
          </a:ln>
        </p:spPr>
        <p:txBody>
          <a:bodyPr/>
          <a:lstStyle/>
          <a:p>
            <a:endParaRPr/>
          </a:p>
        </p:txBody>
      </p:sp>
      <p:sp>
        <p:nvSpPr>
          <p:cNvPr id="3" name="Freeform 3"/>
          <p:cNvSpPr/>
          <p:nvPr/>
        </p:nvSpPr>
        <p:spPr>
          <a:xfrm flipV="1">
            <a:off x="13540889" y="-401521"/>
            <a:ext cx="2235138" cy="3315728"/>
          </a:xfrm>
          <a:custGeom>
            <a:avLst/>
            <a:gdLst/>
            <a:ahLst/>
            <a:cxnLst/>
            <a:rect l="l" t="t" r="r" b="b"/>
            <a:pathLst>
              <a:path w="2235138" h="3315728">
                <a:moveTo>
                  <a:pt x="0" y="3315728"/>
                </a:moveTo>
                <a:lnTo>
                  <a:pt x="2235137" y="3315728"/>
                </a:lnTo>
                <a:lnTo>
                  <a:pt x="2235137" y="0"/>
                </a:lnTo>
                <a:lnTo>
                  <a:pt x="0" y="0"/>
                </a:lnTo>
                <a:lnTo>
                  <a:pt x="0" y="3315728"/>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4" name="TextBox 4"/>
          <p:cNvSpPr txBox="1"/>
          <p:nvPr/>
        </p:nvSpPr>
        <p:spPr>
          <a:xfrm>
            <a:off x="1028700" y="1694493"/>
            <a:ext cx="12382734"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OBJECTIVES</a:t>
            </a:r>
          </a:p>
        </p:txBody>
      </p:sp>
      <p:sp>
        <p:nvSpPr>
          <p:cNvPr id="5" name="TextBox 5"/>
          <p:cNvSpPr txBox="1"/>
          <p:nvPr/>
        </p:nvSpPr>
        <p:spPr>
          <a:xfrm>
            <a:off x="1028700" y="3332423"/>
            <a:ext cx="16230600" cy="6381749"/>
          </a:xfrm>
          <a:prstGeom prst="rect">
            <a:avLst/>
          </a:prstGeom>
        </p:spPr>
        <p:txBody>
          <a:bodyPr lIns="0" tIns="0" rIns="0" bIns="0" rtlCol="0" anchor="t">
            <a:spAutoFit/>
          </a:bodyPr>
          <a:lstStyle/>
          <a:p>
            <a:pPr algn="just">
              <a:lnSpc>
                <a:spcPct val="115000"/>
              </a:lnSpc>
              <a:spcAft>
                <a:spcPts val="1400"/>
              </a:spcAft>
            </a:pPr>
            <a:r>
              <a:rPr sz="2800" b="1">
                <a:solidFill>
                  <a:srgbClr val="57306E"/>
                </a:solidFill>
                <a:latin typeface="Montserrat"/>
              </a:rPr>
              <a:t>Specific Objectives:</a:t>
            </a:r>
          </a:p>
          <a:p>
            <a:pPr>
              <a:lnSpc>
                <a:spcPct val="115000"/>
              </a:lnSpc>
              <a:spcAft>
                <a:spcPts val="1000"/>
              </a:spcAft>
            </a:pPr>
            <a:r>
              <a:rPr sz="2100" b="1">
                <a:solidFill>
                  <a:srgbClr val="57306E"/>
                </a:solidFill>
                <a:latin typeface="Montserrat"/>
              </a:rPr>
              <a:t>1. Describe Structure &amp; Quality: </a:t>
            </a:r>
            <a:r>
              <a:rPr sz="2100" b="0">
                <a:solidFill>
                  <a:srgbClr val="57306E"/>
                </a:solidFill>
                <a:latin typeface="Montserrat"/>
              </a:rPr>
              <a:t>Examine dataset dimensions, variables, data types, and non-random missing value patterns (Richardson et al., 2019).</a:t>
            </a:r>
          </a:p>
          <a:p>
            <a:pPr>
              <a:lnSpc>
                <a:spcPct val="115000"/>
              </a:lnSpc>
              <a:spcAft>
                <a:spcPts val="1000"/>
              </a:spcAft>
            </a:pPr>
            <a:r>
              <a:rPr sz="2100" b="1">
                <a:solidFill>
                  <a:srgbClr val="57306E"/>
                </a:solidFill>
                <a:latin typeface="Montserrat"/>
              </a:rPr>
              <a:t>2. Clean &amp; Preprocess Data: </a:t>
            </a:r>
            <a:r>
              <a:rPr sz="2100" b="0">
                <a:solidFill>
                  <a:srgbClr val="57306E"/>
                </a:solidFill>
                <a:latin typeface="Montserrat"/>
              </a:rPr>
              <a:t>Apply systematic scrubbing protocols to handle missing values, remove cross-platform duplicates, filter inactive listings, and isolate valid residential subsets (Richardson et al., 2019).</a:t>
            </a:r>
          </a:p>
          <a:p>
            <a:pPr>
              <a:lnSpc>
                <a:spcPct val="115000"/>
              </a:lnSpc>
              <a:spcAft>
                <a:spcPts val="1000"/>
              </a:spcAft>
            </a:pPr>
            <a:r>
              <a:rPr sz="2100" b="1">
                <a:solidFill>
                  <a:srgbClr val="57306E"/>
                </a:solidFill>
                <a:latin typeface="Montserrat"/>
              </a:rPr>
              <a:t>3. Explore Market Trends &amp; Visualizations: </a:t>
            </a:r>
            <a:r>
              <a:rPr sz="2100" b="0">
                <a:solidFill>
                  <a:srgbClr val="57306E"/>
                </a:solidFill>
                <a:latin typeface="Montserrat"/>
              </a:rPr>
              <a:t>Investigate price distributions across property types, floor areas, room counts, and regions using log scales and ggplot2 visualizations (Richardson et al., 2019).</a:t>
            </a:r>
          </a:p>
          <a:p>
            <a:pPr>
              <a:lnSpc>
                <a:spcPct val="115000"/>
              </a:lnSpc>
              <a:spcAft>
                <a:spcPts val="1000"/>
              </a:spcAft>
            </a:pPr>
            <a:r>
              <a:rPr sz="2100" b="1">
                <a:solidFill>
                  <a:srgbClr val="57306E"/>
                </a:solidFill>
                <a:latin typeface="Montserrat"/>
              </a:rPr>
              <a:t>4. Build &amp; Compare Predictive Models: </a:t>
            </a:r>
            <a:r>
              <a:rPr sz="2100" b="0">
                <a:solidFill>
                  <a:srgbClr val="57306E"/>
                </a:solidFill>
                <a:latin typeface="Montserrat"/>
              </a:rPr>
              <a:t>Build, evaluate, and compare Multiple Linear Regression (MLR) and Random Forest Regression on log-transformed prices to determine feature importance across physical and regional attributes (Richardson et al., 2019; Verhoef et al., 2022).</a:t>
            </a:r>
          </a:p>
          <a:p>
            <a:pPr>
              <a:lnSpc>
                <a:spcPct val="115000"/>
              </a:lnSpc>
              <a:spcAft>
                <a:spcPts val="600"/>
              </a:spcAft>
            </a:pPr>
            <a:r>
              <a:rPr sz="2100" b="1">
                <a:solidFill>
                  <a:srgbClr val="57306E"/>
                </a:solidFill>
                <a:latin typeface="Montserrat"/>
              </a:rPr>
              <a:t>5. Deploy Interactive Valuation Dashboard: </a:t>
            </a:r>
            <a:r>
              <a:rPr sz="2100" b="0">
                <a:solidFill>
                  <a:srgbClr val="57306E"/>
                </a:solidFill>
                <a:latin typeface="Montserrat"/>
              </a:rPr>
              <a:t>Design and deploy an operational decision-support tool using R Shiny and Plotly, providing dynamic inventory filtering and real-time Automated Valuation Model (AVM) price predictions.</a:t>
            </a:r>
          </a:p>
        </p:txBody>
      </p:sp>
      <p:sp>
        <p:nvSpPr>
          <p:cNvPr id="6" name="Freeform 6"/>
          <p:cNvSpPr/>
          <p:nvPr/>
        </p:nvSpPr>
        <p:spPr>
          <a:xfrm>
            <a:off x="13105813" y="8572918"/>
            <a:ext cx="3105289" cy="3105289"/>
          </a:xfrm>
          <a:custGeom>
            <a:avLst/>
            <a:gdLst/>
            <a:ahLst/>
            <a:cxnLst/>
            <a:rect l="l" t="t" r="r" b="b"/>
            <a:pathLst>
              <a:path w="3105289" h="3105289">
                <a:moveTo>
                  <a:pt x="0" y="0"/>
                </a:moveTo>
                <a:lnTo>
                  <a:pt x="3105289" y="0"/>
                </a:lnTo>
                <a:lnTo>
                  <a:pt x="3105289" y="3105288"/>
                </a:lnTo>
                <a:lnTo>
                  <a:pt x="0" y="31052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716775" y="1838762"/>
            <a:ext cx="3656160"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716775" y="848161"/>
            <a:ext cx="12848484" cy="990601"/>
          </a:xfrm>
          <a:prstGeom prst="rect">
            <a:avLst/>
          </a:prstGeom>
        </p:spPr>
        <p:txBody>
          <a:bodyPr lIns="0" tIns="0" rIns="0" bIns="0" rtlCol="0" anchor="t">
            <a:spAutoFit/>
          </a:bodyPr>
          <a:lstStyle/>
          <a:p>
            <a:pPr algn="l">
              <a:lnSpc>
                <a:spcPts val="7200"/>
              </a:lnSpc>
            </a:pPr>
            <a:r>
              <a:rPr lang="en-US" sz="8000" b="1" dirty="0">
                <a:solidFill>
                  <a:srgbClr val="57306E"/>
                </a:solidFill>
                <a:latin typeface="Montserrat Bold"/>
                <a:ea typeface="Montserrat Bold"/>
                <a:cs typeface="Montserrat Bold"/>
                <a:sym typeface="Montserrat Bold"/>
              </a:rPr>
              <a:t>DATASET DESCRIPTION</a:t>
            </a:r>
          </a:p>
        </p:txBody>
      </p:sp>
      <p:sp>
        <p:nvSpPr>
          <p:cNvPr id="4" name="Freeform 4"/>
          <p:cNvSpPr/>
          <p:nvPr/>
        </p:nvSpPr>
        <p:spPr>
          <a:xfrm>
            <a:off x="13345429" y="-412901"/>
            <a:ext cx="5243598" cy="3117557"/>
          </a:xfrm>
          <a:custGeom>
            <a:avLst/>
            <a:gdLst/>
            <a:ahLst/>
            <a:cxnLst/>
            <a:rect l="l" t="t" r="r" b="b"/>
            <a:pathLst>
              <a:path w="5243598" h="3117557">
                <a:moveTo>
                  <a:pt x="0" y="0"/>
                </a:moveTo>
                <a:lnTo>
                  <a:pt x="5243598" y="0"/>
                </a:lnTo>
                <a:lnTo>
                  <a:pt x="5243598" y="3117558"/>
                </a:lnTo>
                <a:lnTo>
                  <a:pt x="0" y="31175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flipV="1">
            <a:off x="-253361" y="9258300"/>
            <a:ext cx="1940272" cy="1153580"/>
          </a:xfrm>
          <a:custGeom>
            <a:avLst/>
            <a:gdLst/>
            <a:ahLst/>
            <a:cxnLst/>
            <a:rect l="l" t="t" r="r" b="b"/>
            <a:pathLst>
              <a:path w="1940272" h="1153580">
                <a:moveTo>
                  <a:pt x="0" y="1153580"/>
                </a:moveTo>
                <a:lnTo>
                  <a:pt x="1940273" y="1153580"/>
                </a:lnTo>
                <a:lnTo>
                  <a:pt x="1940273" y="0"/>
                </a:lnTo>
                <a:lnTo>
                  <a:pt x="0" y="0"/>
                </a:lnTo>
                <a:lnTo>
                  <a:pt x="0" y="115358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7" name="Freeform 7"/>
          <p:cNvSpPr/>
          <p:nvPr/>
        </p:nvSpPr>
        <p:spPr>
          <a:xfrm>
            <a:off x="589777" y="2646605"/>
            <a:ext cx="17330033" cy="4252769"/>
          </a:xfrm>
          <a:custGeom>
            <a:avLst/>
            <a:gdLst/>
            <a:ahLst/>
            <a:cxnLst/>
            <a:rect l="l" t="t" r="r" b="b"/>
            <a:pathLst>
              <a:path w="17330033" h="4252769">
                <a:moveTo>
                  <a:pt x="0" y="0"/>
                </a:moveTo>
                <a:lnTo>
                  <a:pt x="17330032" y="0"/>
                </a:lnTo>
                <a:lnTo>
                  <a:pt x="17330032" y="4252769"/>
                </a:lnTo>
                <a:lnTo>
                  <a:pt x="0" y="4252769"/>
                </a:lnTo>
                <a:lnTo>
                  <a:pt x="0" y="0"/>
                </a:lnTo>
                <a:close/>
              </a:path>
            </a:pathLst>
          </a:custGeom>
          <a:blipFill>
            <a:blip r:embed="rId3"/>
            <a:stretch>
              <a:fillRect/>
            </a:stretch>
          </a:blipFill>
        </p:spPr>
        <p:txBody>
          <a:bodyPr/>
          <a:lstStyle/>
          <a:p>
            <a:endParaRPr/>
          </a:p>
        </p:txBody>
      </p:sp>
      <p:sp>
        <p:nvSpPr>
          <p:cNvPr id="8" name="TextBox 8"/>
          <p:cNvSpPr txBox="1"/>
          <p:nvPr/>
        </p:nvSpPr>
        <p:spPr>
          <a:xfrm>
            <a:off x="716775" y="6966189"/>
            <a:ext cx="17108446" cy="2052357"/>
          </a:xfrm>
          <a:prstGeom prst="rect">
            <a:avLst/>
          </a:prstGeom>
        </p:spPr>
        <p:txBody>
          <a:bodyPr lIns="0" tIns="0" rIns="0" bIns="0" rtlCol="0" anchor="t">
            <a:spAutoFit/>
          </a:bodyPr>
          <a:lstStyle/>
          <a:p>
            <a:pPr>
              <a:lnSpc>
                <a:spcPct val="115000"/>
              </a:lnSpc>
              <a:spcAft>
                <a:spcPts val="600"/>
              </a:spcAft>
            </a:pPr>
            <a:r>
              <a:rPr sz="2000" b="1" dirty="0">
                <a:solidFill>
                  <a:srgbClr val="57306E"/>
                </a:solidFill>
                <a:latin typeface="Montserrat"/>
              </a:rPr>
              <a:t>Data Source: </a:t>
            </a:r>
            <a:r>
              <a:rPr sz="2000" b="0" dirty="0" err="1">
                <a:solidFill>
                  <a:srgbClr val="57306E"/>
                </a:solidFill>
                <a:latin typeface="Montserrat"/>
              </a:rPr>
              <a:t>D'Moira</a:t>
            </a:r>
            <a:r>
              <a:rPr sz="2000" b="0" dirty="0">
                <a:solidFill>
                  <a:srgbClr val="57306E"/>
                </a:solidFill>
                <a:latin typeface="Montserrat"/>
              </a:rPr>
              <a:t>, C. (2026). Philippines Real Estate Asking Prices [Data set]. Kaggle (Snapshot: Aug 30, 2026).</a:t>
            </a:r>
          </a:p>
          <a:p>
            <a:pPr>
              <a:lnSpc>
                <a:spcPct val="115000"/>
              </a:lnSpc>
              <a:spcAft>
                <a:spcPts val="600"/>
              </a:spcAft>
            </a:pPr>
            <a:r>
              <a:rPr sz="2000" b="1" dirty="0">
                <a:solidFill>
                  <a:srgbClr val="57306E"/>
                </a:solidFill>
                <a:latin typeface="Montserrat"/>
              </a:rPr>
              <a:t>Dataset Scale: </a:t>
            </a:r>
            <a:r>
              <a:rPr sz="2000" b="0" dirty="0">
                <a:solidFill>
                  <a:srgbClr val="57306E"/>
                </a:solidFill>
                <a:latin typeface="Montserrat"/>
              </a:rPr>
              <a:t>241,496 property listings | 25 variables | Target Variable: </a:t>
            </a:r>
            <a:r>
              <a:rPr sz="2000" b="0" dirty="0" err="1">
                <a:solidFill>
                  <a:srgbClr val="57306E"/>
                </a:solidFill>
                <a:latin typeface="Montserrat"/>
              </a:rPr>
              <a:t>price_php</a:t>
            </a:r>
            <a:r>
              <a:rPr sz="2000" b="0" dirty="0">
                <a:solidFill>
                  <a:srgbClr val="57306E"/>
                </a:solidFill>
                <a:latin typeface="Montserrat"/>
              </a:rPr>
              <a:t> (asking price in PHP).</a:t>
            </a:r>
          </a:p>
          <a:p>
            <a:pPr>
              <a:lnSpc>
                <a:spcPct val="115000"/>
              </a:lnSpc>
              <a:spcAft>
                <a:spcPts val="600"/>
              </a:spcAft>
            </a:pPr>
            <a:r>
              <a:rPr sz="2000" b="1" dirty="0">
                <a:solidFill>
                  <a:srgbClr val="57306E"/>
                </a:solidFill>
                <a:latin typeface="Montserrat"/>
              </a:rPr>
              <a:t>Geographic Scope: </a:t>
            </a:r>
            <a:r>
              <a:rPr sz="2000" b="0" dirty="0">
                <a:solidFill>
                  <a:srgbClr val="57306E"/>
                </a:solidFill>
                <a:latin typeface="Montserrat"/>
              </a:rPr>
              <a:t>17 administrative regions, 84 provinces, and 1,530 distinct cities across the Philippines.</a:t>
            </a:r>
          </a:p>
          <a:p>
            <a:pPr>
              <a:lnSpc>
                <a:spcPct val="115000"/>
              </a:lnSpc>
              <a:spcAft>
                <a:spcPts val="600"/>
              </a:spcAft>
            </a:pPr>
            <a:r>
              <a:rPr sz="2000" b="1" dirty="0">
                <a:solidFill>
                  <a:srgbClr val="57306E"/>
                </a:solidFill>
                <a:latin typeface="Montserrat"/>
              </a:rPr>
              <a:t>Property Portfolio: </a:t>
            </a:r>
            <a:r>
              <a:rPr sz="2000" b="0" dirty="0">
                <a:solidFill>
                  <a:srgbClr val="57306E"/>
                </a:solidFill>
                <a:latin typeface="Montserrat"/>
              </a:rPr>
              <a:t>Houses (40.2%), Condominiums (36.5%), Lots (20.3%), Commercial (3.0%). All listings are for sale.</a:t>
            </a:r>
          </a:p>
          <a:p>
            <a:pPr>
              <a:lnSpc>
                <a:spcPct val="115000"/>
              </a:lnSpc>
              <a:spcAft>
                <a:spcPts val="400"/>
              </a:spcAft>
            </a:pPr>
            <a:r>
              <a:rPr sz="2000" b="1" dirty="0">
                <a:solidFill>
                  <a:srgbClr val="57306E"/>
                </a:solidFill>
                <a:latin typeface="Montserrat"/>
              </a:rPr>
              <a:t>Technology Stack: </a:t>
            </a:r>
            <a:r>
              <a:rPr sz="2000" b="0" dirty="0">
                <a:solidFill>
                  <a:srgbClr val="57306E"/>
                </a:solidFill>
                <a:latin typeface="Montserrat"/>
              </a:rPr>
              <a:t>R 4.4+ in RStudio | </a:t>
            </a:r>
            <a:r>
              <a:rPr sz="2000" b="0" dirty="0" err="1">
                <a:solidFill>
                  <a:srgbClr val="57306E"/>
                </a:solidFill>
                <a:latin typeface="Montserrat"/>
              </a:rPr>
              <a:t>tidyverse</a:t>
            </a:r>
            <a:r>
              <a:rPr sz="2000" b="0" dirty="0">
                <a:solidFill>
                  <a:srgbClr val="57306E"/>
                </a:solidFill>
                <a:latin typeface="Montserrat"/>
              </a:rPr>
              <a:t> (</a:t>
            </a:r>
            <a:r>
              <a:rPr sz="2000" b="0" dirty="0" err="1">
                <a:solidFill>
                  <a:srgbClr val="57306E"/>
                </a:solidFill>
                <a:latin typeface="Montserrat"/>
              </a:rPr>
              <a:t>dplyr</a:t>
            </a:r>
            <a:r>
              <a:rPr sz="2000" b="0" dirty="0">
                <a:solidFill>
                  <a:srgbClr val="57306E"/>
                </a:solidFill>
                <a:latin typeface="Montserrat"/>
              </a:rPr>
              <a:t>, </a:t>
            </a:r>
            <a:r>
              <a:rPr sz="2000" b="0" dirty="0" err="1">
                <a:solidFill>
                  <a:srgbClr val="57306E"/>
                </a:solidFill>
                <a:latin typeface="Montserrat"/>
              </a:rPr>
              <a:t>readr</a:t>
            </a:r>
            <a:r>
              <a:rPr sz="2000" b="0" dirty="0">
                <a:solidFill>
                  <a:srgbClr val="57306E"/>
                </a:solidFill>
                <a:latin typeface="Montserrat"/>
              </a:rPr>
              <a:t>, ggplot2) | caret | </a:t>
            </a:r>
            <a:r>
              <a:rPr sz="2000" b="0" dirty="0" err="1">
                <a:solidFill>
                  <a:srgbClr val="57306E"/>
                </a:solidFill>
                <a:latin typeface="Montserrat"/>
              </a:rPr>
              <a:t>randomForest</a:t>
            </a:r>
            <a:r>
              <a:rPr sz="2000" b="0" dirty="0">
                <a:solidFill>
                  <a:srgbClr val="57306E"/>
                </a:solidFill>
                <a:latin typeface="Montserrat"/>
              </a:rPr>
              <a:t> | shiny | </a:t>
            </a:r>
            <a:r>
              <a:rPr sz="2000" b="0" dirty="0" err="1">
                <a:solidFill>
                  <a:srgbClr val="57306E"/>
                </a:solidFill>
                <a:latin typeface="Montserrat"/>
              </a:rPr>
              <a:t>plotly</a:t>
            </a:r>
            <a:r>
              <a:rPr sz="2000" b="0" dirty="0">
                <a:solidFill>
                  <a:srgbClr val="57306E"/>
                </a:solidFill>
                <a:latin typeface="Montserrat"/>
              </a:rPr>
              <a:t> | Git &amp; GitHub.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2934535"/>
            <a:ext cx="3656160" cy="0"/>
          </a:xfrm>
          <a:prstGeom prst="line">
            <a:avLst/>
          </a:prstGeom>
          <a:ln w="38100" cap="flat">
            <a:solidFill>
              <a:srgbClr val="6B4780"/>
            </a:solidFill>
            <a:prstDash val="solid"/>
            <a:headEnd type="none" w="sm" len="sm"/>
            <a:tailEnd type="none" w="sm" len="sm"/>
          </a:ln>
        </p:spPr>
        <p:txBody>
          <a:bodyPr/>
          <a:lstStyle/>
          <a:p>
            <a:endParaRPr/>
          </a:p>
        </p:txBody>
      </p:sp>
      <p:sp>
        <p:nvSpPr>
          <p:cNvPr id="3" name="Freeform 3"/>
          <p:cNvSpPr/>
          <p:nvPr/>
        </p:nvSpPr>
        <p:spPr>
          <a:xfrm>
            <a:off x="13345429" y="-412901"/>
            <a:ext cx="5243598" cy="3117557"/>
          </a:xfrm>
          <a:custGeom>
            <a:avLst/>
            <a:gdLst/>
            <a:ahLst/>
            <a:cxnLst/>
            <a:rect l="l" t="t" r="r" b="b"/>
            <a:pathLst>
              <a:path w="5243598" h="3117557">
                <a:moveTo>
                  <a:pt x="0" y="0"/>
                </a:moveTo>
                <a:lnTo>
                  <a:pt x="5243598" y="0"/>
                </a:lnTo>
                <a:lnTo>
                  <a:pt x="5243598" y="3117558"/>
                </a:lnTo>
                <a:lnTo>
                  <a:pt x="0" y="31175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4" name="Freeform 4"/>
          <p:cNvSpPr/>
          <p:nvPr/>
        </p:nvSpPr>
        <p:spPr>
          <a:xfrm flipV="1">
            <a:off x="-253361" y="9258300"/>
            <a:ext cx="1940272" cy="1153580"/>
          </a:xfrm>
          <a:custGeom>
            <a:avLst/>
            <a:gdLst/>
            <a:ahLst/>
            <a:cxnLst/>
            <a:rect l="l" t="t" r="r" b="b"/>
            <a:pathLst>
              <a:path w="1940272" h="1153580">
                <a:moveTo>
                  <a:pt x="0" y="1153580"/>
                </a:moveTo>
                <a:lnTo>
                  <a:pt x="1940273" y="1153580"/>
                </a:lnTo>
                <a:lnTo>
                  <a:pt x="1940273" y="0"/>
                </a:lnTo>
                <a:lnTo>
                  <a:pt x="0" y="0"/>
                </a:lnTo>
                <a:lnTo>
                  <a:pt x="0" y="115358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6" name="Freeform 6"/>
          <p:cNvSpPr/>
          <p:nvPr/>
        </p:nvSpPr>
        <p:spPr>
          <a:xfrm>
            <a:off x="3326843" y="3163135"/>
            <a:ext cx="11634313" cy="6542898"/>
          </a:xfrm>
          <a:custGeom>
            <a:avLst/>
            <a:gdLst/>
            <a:ahLst/>
            <a:cxnLst/>
            <a:rect l="l" t="t" r="r" b="b"/>
            <a:pathLst>
              <a:path w="11634313" h="6542898">
                <a:moveTo>
                  <a:pt x="0" y="0"/>
                </a:moveTo>
                <a:lnTo>
                  <a:pt x="11634314" y="0"/>
                </a:lnTo>
                <a:lnTo>
                  <a:pt x="11634314" y="6542897"/>
                </a:lnTo>
                <a:lnTo>
                  <a:pt x="0" y="6542897"/>
                </a:lnTo>
                <a:lnTo>
                  <a:pt x="0" y="0"/>
                </a:lnTo>
                <a:close/>
              </a:path>
            </a:pathLst>
          </a:custGeom>
          <a:blipFill>
            <a:blip r:embed="rId3"/>
            <a:stretch>
              <a:fillRect b="-38909"/>
            </a:stretch>
          </a:blipFill>
        </p:spPr>
        <p:txBody>
          <a:bodyPr/>
          <a:lstStyle/>
          <a:p>
            <a:endParaRPr/>
          </a:p>
        </p:txBody>
      </p:sp>
      <p:sp>
        <p:nvSpPr>
          <p:cNvPr id="7" name="TextBox 7"/>
          <p:cNvSpPr txBox="1"/>
          <p:nvPr/>
        </p:nvSpPr>
        <p:spPr>
          <a:xfrm>
            <a:off x="1028700" y="1212415"/>
            <a:ext cx="11936157" cy="1703070"/>
          </a:xfrm>
          <a:prstGeom prst="rect">
            <a:avLst/>
          </a:prstGeom>
        </p:spPr>
        <p:txBody>
          <a:bodyPr lIns="0" tIns="0" rIns="0" bIns="0" rtlCol="0" anchor="t">
            <a:spAutoFit/>
          </a:bodyPr>
          <a:lstStyle/>
          <a:p>
            <a:pPr algn="l">
              <a:lnSpc>
                <a:spcPts val="6480"/>
              </a:lnSpc>
            </a:pPr>
            <a:r>
              <a:rPr lang="en-US" sz="7200" b="1">
                <a:solidFill>
                  <a:srgbClr val="57306E"/>
                </a:solidFill>
                <a:latin typeface="Montserrat Bold"/>
                <a:ea typeface="Montserrat Bold"/>
                <a:cs typeface="Montserrat Bold"/>
                <a:sym typeface="Montserrat Bold"/>
              </a:rPr>
              <a:t>DATA PREPARATION AND CLEANING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flipV="1">
            <a:off x="834861" y="2392495"/>
            <a:ext cx="8970678"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834861" y="1489525"/>
            <a:ext cx="13656719" cy="883920"/>
          </a:xfrm>
          <a:prstGeom prst="rect">
            <a:avLst/>
          </a:prstGeom>
        </p:spPr>
        <p:txBody>
          <a:bodyPr lIns="0" tIns="0" rIns="0" bIns="0" rtlCol="0" anchor="t">
            <a:spAutoFit/>
          </a:bodyPr>
          <a:lstStyle/>
          <a:p>
            <a:pPr algn="l">
              <a:lnSpc>
                <a:spcPts val="6480"/>
              </a:lnSpc>
            </a:pPr>
            <a:r>
              <a:rPr lang="en-US" sz="7200" b="1">
                <a:solidFill>
                  <a:srgbClr val="57306E"/>
                </a:solidFill>
                <a:latin typeface="Montserrat Bold"/>
                <a:ea typeface="Montserrat Bold"/>
                <a:cs typeface="Montserrat Bold"/>
                <a:sym typeface="Montserrat Bold"/>
              </a:rPr>
              <a:t>CLEANING PROCEDURES </a:t>
            </a:r>
          </a:p>
        </p:txBody>
      </p:sp>
      <p:sp>
        <p:nvSpPr>
          <p:cNvPr id="4" name="TextBox 4"/>
          <p:cNvSpPr txBox="1"/>
          <p:nvPr/>
        </p:nvSpPr>
        <p:spPr>
          <a:xfrm>
            <a:off x="834861" y="2746804"/>
            <a:ext cx="16230600" cy="6414866"/>
          </a:xfrm>
          <a:prstGeom prst="rect">
            <a:avLst/>
          </a:prstGeom>
        </p:spPr>
        <p:txBody>
          <a:bodyPr lIns="0" tIns="0" rIns="0" bIns="0" rtlCol="0" anchor="t">
            <a:spAutoFit/>
          </a:bodyPr>
          <a:lstStyle/>
          <a:p>
            <a:pPr algn="just">
              <a:lnSpc>
                <a:spcPts val="3949"/>
              </a:lnSpc>
            </a:pPr>
            <a:r>
              <a:rPr lang="en-US" sz="2821" b="1">
                <a:solidFill>
                  <a:srgbClr val="57306E"/>
                </a:solidFill>
                <a:latin typeface="Montserrat Bold"/>
                <a:ea typeface="Montserrat Bold"/>
                <a:cs typeface="Montserrat Bold"/>
                <a:sym typeface="Montserrat Bold"/>
              </a:rPr>
              <a:t>Handling missing values:</a:t>
            </a:r>
            <a:r>
              <a:rPr lang="en-US" sz="2821">
                <a:solidFill>
                  <a:srgbClr val="57306E"/>
                </a:solidFill>
                <a:latin typeface="Montserrat"/>
                <a:ea typeface="Montserrat"/>
                <a:cs typeface="Montserrat"/>
                <a:sym typeface="Montserrat"/>
              </a:rPr>
              <a:t> For consistency, missing values in the region and province columns were marked as “Unspecified.” Missing room counts were removed only when analyzing room-specific listings because not all property types are supposed to have those. Removing the missing entries for bedrooms and bathrooms would eliminate too much data in other types.</a:t>
            </a:r>
          </a:p>
          <a:p>
            <a:pPr algn="just">
              <a:lnSpc>
                <a:spcPts val="3949"/>
              </a:lnSpc>
            </a:pPr>
            <a:r>
              <a:rPr lang="en-US" sz="2821" b="1">
                <a:solidFill>
                  <a:srgbClr val="57306E"/>
                </a:solidFill>
                <a:latin typeface="Montserrat Bold"/>
                <a:ea typeface="Montserrat Bold"/>
                <a:cs typeface="Montserrat Bold"/>
                <a:sym typeface="Montserrat Bold"/>
              </a:rPr>
              <a:t>Removing duplicates: </a:t>
            </a:r>
            <a:r>
              <a:rPr lang="en-US" sz="2821">
                <a:solidFill>
                  <a:srgbClr val="57306E"/>
                </a:solidFill>
                <a:latin typeface="Montserrat"/>
                <a:ea typeface="Montserrat"/>
                <a:cs typeface="Montserrat"/>
                <a:sym typeface="Montserrat"/>
              </a:rPr>
              <a:t>To remove duplicates, the initial listings were grouped by the canonical_id column, and only one entry for each ID was kept. In cases when listing_id and canonical_id did not match, both entries were considered duplicates since they should represent the same property on different platforms. </a:t>
            </a:r>
          </a:p>
          <a:p>
            <a:pPr algn="just">
              <a:lnSpc>
                <a:spcPts val="3949"/>
              </a:lnSpc>
            </a:pPr>
            <a:r>
              <a:rPr lang="en-US" sz="2821" b="1">
                <a:solidFill>
                  <a:srgbClr val="57306E"/>
                </a:solidFill>
                <a:latin typeface="Montserrat Bold"/>
                <a:ea typeface="Montserrat Bold"/>
                <a:cs typeface="Montserrat Bold"/>
                <a:sym typeface="Montserrat Bold"/>
              </a:rPr>
              <a:t>Correcting data types: </a:t>
            </a:r>
            <a:r>
              <a:rPr lang="en-US" sz="2821">
                <a:solidFill>
                  <a:srgbClr val="57306E"/>
                </a:solidFill>
                <a:latin typeface="Montserrat"/>
                <a:ea typeface="Montserrat"/>
                <a:cs typeface="Montserrat"/>
                <a:sym typeface="Montserrat"/>
              </a:rPr>
              <a:t>The property_type, region, and city columns have been converted to factor data type in R to be able to group them properly. The price_php, sqm, and lot_area_m2 columns were found to contain numeric data. The first_seen and last_seen columns were found to contain dates. </a:t>
            </a:r>
          </a:p>
        </p:txBody>
      </p:sp>
      <p:sp>
        <p:nvSpPr>
          <p:cNvPr id="5" name="Freeform 5"/>
          <p:cNvSpPr/>
          <p:nvPr/>
        </p:nvSpPr>
        <p:spPr>
          <a:xfrm>
            <a:off x="12894339" y="-1012307"/>
            <a:ext cx="5694689" cy="3385751"/>
          </a:xfrm>
          <a:custGeom>
            <a:avLst/>
            <a:gdLst/>
            <a:ahLst/>
            <a:cxnLst/>
            <a:rect l="l" t="t" r="r" b="b"/>
            <a:pathLst>
              <a:path w="5694689" h="3385751">
                <a:moveTo>
                  <a:pt x="0" y="0"/>
                </a:moveTo>
                <a:lnTo>
                  <a:pt x="5694688" y="0"/>
                </a:lnTo>
                <a:lnTo>
                  <a:pt x="5694688" y="3385752"/>
                </a:lnTo>
                <a:lnTo>
                  <a:pt x="0" y="33857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6" name="Freeform 6"/>
          <p:cNvSpPr/>
          <p:nvPr/>
        </p:nvSpPr>
        <p:spPr>
          <a:xfrm>
            <a:off x="16351914" y="857213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flipV="1">
            <a:off x="834861" y="2392495"/>
            <a:ext cx="8970678"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834861" y="1489525"/>
            <a:ext cx="13656719" cy="883920"/>
          </a:xfrm>
          <a:prstGeom prst="rect">
            <a:avLst/>
          </a:prstGeom>
        </p:spPr>
        <p:txBody>
          <a:bodyPr lIns="0" tIns="0" rIns="0" bIns="0" rtlCol="0" anchor="t">
            <a:spAutoFit/>
          </a:bodyPr>
          <a:lstStyle/>
          <a:p>
            <a:pPr algn="l">
              <a:lnSpc>
                <a:spcPts val="6480"/>
              </a:lnSpc>
            </a:pPr>
            <a:r>
              <a:rPr lang="en-US" sz="7200" b="1">
                <a:solidFill>
                  <a:srgbClr val="57306E"/>
                </a:solidFill>
                <a:latin typeface="Montserrat Bold"/>
                <a:ea typeface="Montserrat Bold"/>
                <a:cs typeface="Montserrat Bold"/>
                <a:sym typeface="Montserrat Bold"/>
              </a:rPr>
              <a:t>CLEANING PROCEDURES </a:t>
            </a:r>
          </a:p>
        </p:txBody>
      </p:sp>
      <p:sp>
        <p:nvSpPr>
          <p:cNvPr id="4" name="TextBox 4"/>
          <p:cNvSpPr txBox="1"/>
          <p:nvPr/>
        </p:nvSpPr>
        <p:spPr>
          <a:xfrm>
            <a:off x="834861" y="2746804"/>
            <a:ext cx="16230600" cy="5424266"/>
          </a:xfrm>
          <a:prstGeom prst="rect">
            <a:avLst/>
          </a:prstGeom>
        </p:spPr>
        <p:txBody>
          <a:bodyPr lIns="0" tIns="0" rIns="0" bIns="0" rtlCol="0" anchor="t">
            <a:spAutoFit/>
          </a:bodyPr>
          <a:lstStyle/>
          <a:p>
            <a:pPr algn="just">
              <a:lnSpc>
                <a:spcPts val="3949"/>
              </a:lnSpc>
            </a:pPr>
            <a:r>
              <a:rPr lang="en-US" sz="2821" b="1">
                <a:solidFill>
                  <a:srgbClr val="57306E"/>
                </a:solidFill>
                <a:latin typeface="Montserrat Bold"/>
                <a:ea typeface="Montserrat Bold"/>
                <a:cs typeface="Montserrat Bold"/>
                <a:sym typeface="Montserrat Bold"/>
              </a:rPr>
              <a:t>Cleaning variable/column names:</a:t>
            </a:r>
            <a:r>
              <a:rPr lang="en-US" sz="2821">
                <a:solidFill>
                  <a:srgbClr val="57306E"/>
                </a:solidFill>
                <a:latin typeface="Montserrat"/>
                <a:ea typeface="Montserrat"/>
                <a:cs typeface="Montserrat"/>
                <a:sym typeface="Montserrat"/>
              </a:rPr>
              <a:t> All column names in the provided data set are already in the lower case with underscores (e. g., price_php, lot_area_m2), which is a standard in R. Therefore, there was nothing to be changed </a:t>
            </a:r>
          </a:p>
          <a:p>
            <a:pPr algn="just">
              <a:lnSpc>
                <a:spcPts val="3949"/>
              </a:lnSpc>
            </a:pPr>
            <a:r>
              <a:rPr lang="en-US" sz="2821" b="1">
                <a:solidFill>
                  <a:srgbClr val="57306E"/>
                </a:solidFill>
                <a:latin typeface="Montserrat Bold"/>
                <a:ea typeface="Montserrat Bold"/>
                <a:cs typeface="Montserrat Bold"/>
                <a:sym typeface="Montserrat Bold"/>
              </a:rPr>
              <a:t>Formatting dates or text: </a:t>
            </a:r>
            <a:r>
              <a:rPr lang="en-US" sz="2821">
                <a:solidFill>
                  <a:srgbClr val="57306E"/>
                </a:solidFill>
                <a:latin typeface="Montserrat"/>
                <a:ea typeface="Montserrat"/>
                <a:cs typeface="Montserrat"/>
                <a:sym typeface="Montserrat"/>
              </a:rPr>
              <a:t>The first_seen and last_seen date columns were verified to be in standard YYYY-MM-DD format. The is_active column was confirmed as a logical (TRUE/FALSE) column and used to filter only active listings </a:t>
            </a:r>
          </a:p>
          <a:p>
            <a:pPr algn="just">
              <a:lnSpc>
                <a:spcPts val="3949"/>
              </a:lnSpc>
            </a:pPr>
            <a:r>
              <a:rPr lang="en-US" sz="2821" b="1">
                <a:solidFill>
                  <a:srgbClr val="57306E"/>
                </a:solidFill>
                <a:latin typeface="Montserrat Bold"/>
                <a:ea typeface="Montserrat Bold"/>
                <a:cs typeface="Montserrat Bold"/>
                <a:sym typeface="Montserrat Bold"/>
              </a:rPr>
              <a:t>Handling invalid or inconsistent values:</a:t>
            </a:r>
            <a:r>
              <a:rPr lang="en-US" sz="2821">
                <a:solidFill>
                  <a:srgbClr val="57306E"/>
                </a:solidFill>
                <a:latin typeface="Montserrat"/>
                <a:ea typeface="Montserrat"/>
                <a:cs typeface="Montserrat"/>
                <a:sym typeface="Montserrat"/>
              </a:rPr>
              <a:t> Listings with sqm equal to 0 were excluded from floor area analysis. The district and barangay columns were dropped entirely due to being blank in more than 75% of records. The new_build_flag and property_subtype columns were also dropped due to high missing rates and low analytical value. Extreme bedroom counts above 10 were removed from residential analysis. </a:t>
            </a:r>
          </a:p>
        </p:txBody>
      </p:sp>
      <p:sp>
        <p:nvSpPr>
          <p:cNvPr id="5" name="Freeform 5"/>
          <p:cNvSpPr/>
          <p:nvPr/>
        </p:nvSpPr>
        <p:spPr>
          <a:xfrm>
            <a:off x="12894339" y="-1012307"/>
            <a:ext cx="5694689" cy="3385751"/>
          </a:xfrm>
          <a:custGeom>
            <a:avLst/>
            <a:gdLst/>
            <a:ahLst/>
            <a:cxnLst/>
            <a:rect l="l" t="t" r="r" b="b"/>
            <a:pathLst>
              <a:path w="5694689" h="3385751">
                <a:moveTo>
                  <a:pt x="0" y="0"/>
                </a:moveTo>
                <a:lnTo>
                  <a:pt x="5694688" y="0"/>
                </a:lnTo>
                <a:lnTo>
                  <a:pt x="5694688" y="3385752"/>
                </a:lnTo>
                <a:lnTo>
                  <a:pt x="0" y="33857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6" name="Freeform 6"/>
          <p:cNvSpPr/>
          <p:nvPr/>
        </p:nvSpPr>
        <p:spPr>
          <a:xfrm>
            <a:off x="16351914" y="857213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extBox 1"/>
          <p:cNvSpPr txBox="1"/>
          <p:nvPr/>
        </p:nvSpPr>
        <p:spPr>
          <a:xfrm>
            <a:off x="1028700" y="1000000"/>
            <a:ext cx="16230600" cy="900000"/>
          </a:xfrm>
          <a:prstGeom prst="rect">
            <a:avLst/>
          </a:prstGeom>
          <a:noFill/>
        </p:spPr>
        <p:txBody>
          <a:bodyPr wrap="square">
            <a:spAutoFit/>
          </a:bodyPr>
          <a:lstStyle/>
          <a:p>
            <a:pPr>
              <a:defRPr sz="5400" b="1">
                <a:solidFill>
                  <a:srgbClr val="57306E"/>
                </a:solidFill>
                <a:latin typeface="Montserrat"/>
              </a:defRPr>
            </a:pPr>
            <a:r>
              <a:t>ETL PIPELINE &amp; DATA ATTRITION FUNNEL</a:t>
            </a:r>
          </a:p>
        </p:txBody>
      </p:sp>
      <p:sp>
        <p:nvSpPr>
          <p:cNvPr id="3" name="TextBox 2"/>
          <p:cNvSpPr txBox="1"/>
          <p:nvPr/>
        </p:nvSpPr>
        <p:spPr>
          <a:xfrm>
            <a:off x="1028700" y="1950000"/>
            <a:ext cx="16230600" cy="500000"/>
          </a:xfrm>
          <a:prstGeom prst="rect">
            <a:avLst/>
          </a:prstGeom>
          <a:noFill/>
        </p:spPr>
        <p:txBody>
          <a:bodyPr wrap="none">
            <a:spAutoFit/>
          </a:bodyPr>
          <a:lstStyle/>
          <a:p>
            <a:pPr>
              <a:defRPr sz="2600" b="1">
                <a:solidFill>
                  <a:srgbClr val="57306E"/>
                </a:solidFill>
                <a:latin typeface="Montserrat"/>
              </a:defRPr>
            </a:pPr>
            <a:r>
              <a:t>Systematic Data Engineering &amp; Scrubbing Protocols (Richardson et al., 2019)</a:t>
            </a:r>
          </a:p>
        </p:txBody>
      </p:sp>
      <p:sp>
        <p:nvSpPr>
          <p:cNvPr id="4" name="TextBox 3"/>
          <p:cNvSpPr txBox="1"/>
          <p:nvPr/>
        </p:nvSpPr>
        <p:spPr>
          <a:xfrm>
            <a:off x="1028700" y="2600000"/>
            <a:ext cx="8000000" cy="6800000"/>
          </a:xfrm>
          <a:prstGeom prst="rect">
            <a:avLst/>
          </a:prstGeom>
          <a:noFill/>
        </p:spPr>
        <p:txBody>
          <a:bodyPr wrap="square">
            <a:spAutoFit/>
          </a:bodyPr>
          <a:lstStyle/>
          <a:p>
            <a:pPr>
              <a:lnSpc>
                <a:spcPct val="115000"/>
              </a:lnSpc>
              <a:spcAft>
                <a:spcPts val="200"/>
              </a:spcAft>
            </a:pPr>
            <a:r>
              <a:rPr sz="2000" b="1">
                <a:solidFill>
                  <a:srgbClr val="57306E"/>
                </a:solidFill>
                <a:latin typeface="Montserrat"/>
              </a:rPr>
              <a:t>• 1. Raw Data Ingestion: </a:t>
            </a:r>
            <a:r>
              <a:rPr sz="2000" b="0">
                <a:solidFill>
                  <a:srgbClr val="57306E"/>
                </a:solidFill>
                <a:latin typeface="Montserrat"/>
              </a:rPr>
              <a:t>241,496 (100.0%)</a:t>
            </a:r>
          </a:p>
          <a:p>
            <a:pPr>
              <a:lnSpc>
                <a:spcPct val="115000"/>
              </a:lnSpc>
              <a:spcAft>
                <a:spcPts val="800"/>
              </a:spcAft>
            </a:pPr>
            <a:r>
              <a:rPr sz="1700" b="1">
                <a:solidFill>
                  <a:srgbClr val="57306E"/>
                </a:solidFill>
                <a:latin typeface="Montserrat"/>
              </a:rPr>
              <a:t>   Rationale: </a:t>
            </a:r>
            <a:r>
              <a:rPr sz="1700" b="0">
                <a:solidFill>
                  <a:srgbClr val="57306E"/>
                </a:solidFill>
                <a:latin typeface="Montserrat"/>
              </a:rPr>
              <a:t>Complete secondary scraping repository from Kaggle across 17 regions.</a:t>
            </a:r>
          </a:p>
          <a:p>
            <a:pPr>
              <a:lnSpc>
                <a:spcPct val="115000"/>
              </a:lnSpc>
              <a:spcAft>
                <a:spcPts val="200"/>
              </a:spcAft>
            </a:pPr>
            <a:r>
              <a:rPr sz="2000" b="1">
                <a:solidFill>
                  <a:srgbClr val="57306E"/>
                </a:solidFill>
                <a:latin typeface="Montserrat"/>
              </a:rPr>
              <a:t>• 2. Active Inventory Filter: </a:t>
            </a:r>
            <a:r>
              <a:rPr sz="2000" b="0">
                <a:solidFill>
                  <a:srgbClr val="57306E"/>
                </a:solidFill>
                <a:latin typeface="Montserrat"/>
              </a:rPr>
              <a:t>49,884 (20.7%)</a:t>
            </a:r>
          </a:p>
          <a:p>
            <a:pPr>
              <a:lnSpc>
                <a:spcPct val="115000"/>
              </a:lnSpc>
              <a:spcAft>
                <a:spcPts val="800"/>
              </a:spcAft>
            </a:pPr>
            <a:r>
              <a:rPr sz="1700" b="1">
                <a:solidFill>
                  <a:srgbClr val="57306E"/>
                </a:solidFill>
                <a:latin typeface="Montserrat"/>
              </a:rPr>
              <a:t>   Rationale: </a:t>
            </a:r>
            <a:r>
              <a:rPr sz="1700" b="0">
                <a:solidFill>
                  <a:srgbClr val="57306E"/>
                </a:solidFill>
                <a:latin typeface="Montserrat"/>
              </a:rPr>
              <a:t>Excluded 191,612 delisted/sold/expired listings to reflect current market value.</a:t>
            </a:r>
          </a:p>
          <a:p>
            <a:pPr>
              <a:lnSpc>
                <a:spcPct val="115000"/>
              </a:lnSpc>
              <a:spcAft>
                <a:spcPts val="200"/>
              </a:spcAft>
            </a:pPr>
            <a:r>
              <a:rPr sz="2000" b="1">
                <a:solidFill>
                  <a:srgbClr val="57306E"/>
                </a:solidFill>
                <a:latin typeface="Montserrat"/>
              </a:rPr>
              <a:t>• 3. Canonical Deduplication: </a:t>
            </a:r>
            <a:r>
              <a:rPr sz="2000" b="0">
                <a:solidFill>
                  <a:srgbClr val="57306E"/>
                </a:solidFill>
                <a:latin typeface="Montserrat"/>
              </a:rPr>
              <a:t>49,602 (20.5%)</a:t>
            </a:r>
          </a:p>
          <a:p>
            <a:pPr>
              <a:lnSpc>
                <a:spcPct val="115000"/>
              </a:lnSpc>
              <a:spcAft>
                <a:spcPts val="800"/>
              </a:spcAft>
            </a:pPr>
            <a:r>
              <a:rPr sz="1700" b="1">
                <a:solidFill>
                  <a:srgbClr val="57306E"/>
                </a:solidFill>
                <a:latin typeface="Montserrat"/>
              </a:rPr>
              <a:t>   Rationale: </a:t>
            </a:r>
            <a:r>
              <a:rPr sz="1700" b="0">
                <a:solidFill>
                  <a:srgbClr val="57306E"/>
                </a:solidFill>
                <a:latin typeface="Montserrat"/>
              </a:rPr>
              <a:t>Removed 282 cross-portal duplicate listings sharing identical canonical_id.</a:t>
            </a:r>
          </a:p>
          <a:p>
            <a:pPr>
              <a:lnSpc>
                <a:spcPct val="115000"/>
              </a:lnSpc>
              <a:spcAft>
                <a:spcPts val="200"/>
              </a:spcAft>
            </a:pPr>
            <a:r>
              <a:rPr sz="2000" b="1">
                <a:solidFill>
                  <a:srgbClr val="57306E"/>
                </a:solidFill>
                <a:latin typeface="Montserrat"/>
              </a:rPr>
              <a:t>• 4. Floor Area Subset (sqm &gt; 0): </a:t>
            </a:r>
            <a:r>
              <a:rPr sz="2000" b="0">
                <a:solidFill>
                  <a:srgbClr val="57306E"/>
                </a:solidFill>
                <a:latin typeface="Montserrat"/>
              </a:rPr>
              <a:t>43,884 (18.2%)</a:t>
            </a:r>
          </a:p>
          <a:p>
            <a:pPr>
              <a:lnSpc>
                <a:spcPct val="115000"/>
              </a:lnSpc>
              <a:spcAft>
                <a:spcPts val="800"/>
              </a:spcAft>
            </a:pPr>
            <a:r>
              <a:rPr sz="1700" b="1">
                <a:solidFill>
                  <a:srgbClr val="57306E"/>
                </a:solidFill>
                <a:latin typeface="Montserrat"/>
              </a:rPr>
              <a:t>   Rationale: </a:t>
            </a:r>
            <a:r>
              <a:rPr sz="1700" b="0">
                <a:solidFill>
                  <a:srgbClr val="57306E"/>
                </a:solidFill>
                <a:latin typeface="Montserrat"/>
              </a:rPr>
              <a:t>Excluded vacant land (lots) and unrecorded unit sizes for floor-area evaluation.</a:t>
            </a:r>
          </a:p>
          <a:p>
            <a:pPr>
              <a:lnSpc>
                <a:spcPct val="115000"/>
              </a:lnSpc>
              <a:spcAft>
                <a:spcPts val="200"/>
              </a:spcAft>
            </a:pPr>
            <a:r>
              <a:rPr sz="2000" b="1">
                <a:solidFill>
                  <a:srgbClr val="57306E"/>
                </a:solidFill>
                <a:latin typeface="Montserrat"/>
              </a:rPr>
              <a:t>• 5. Residential Working Subset: </a:t>
            </a:r>
            <a:r>
              <a:rPr sz="2000" b="0">
                <a:solidFill>
                  <a:srgbClr val="57306E"/>
                </a:solidFill>
                <a:latin typeface="Montserrat"/>
              </a:rPr>
              <a:t>35,779 (14.8%)</a:t>
            </a:r>
          </a:p>
          <a:p>
            <a:pPr>
              <a:lnSpc>
                <a:spcPct val="115000"/>
              </a:lnSpc>
              <a:spcAft>
                <a:spcPts val="800"/>
              </a:spcAft>
            </a:pPr>
            <a:r>
              <a:rPr sz="1700" b="1">
                <a:solidFill>
                  <a:srgbClr val="57306E"/>
                </a:solidFill>
                <a:latin typeface="Montserrat"/>
              </a:rPr>
              <a:t>   Rationale: </a:t>
            </a:r>
            <a:r>
              <a:rPr sz="1700" b="0">
                <a:solidFill>
                  <a:srgbClr val="57306E"/>
                </a:solidFill>
                <a:latin typeface="Montserrat"/>
              </a:rPr>
              <a:t>Filtered to houses &amp; condos with &lt;= 10 bedrooms (removed commercial hotels/dorms).</a:t>
            </a:r>
          </a:p>
          <a:p>
            <a:pPr>
              <a:lnSpc>
                <a:spcPct val="115000"/>
              </a:lnSpc>
              <a:spcAft>
                <a:spcPts val="200"/>
              </a:spcAft>
            </a:pPr>
            <a:r>
              <a:t>• 6. Complete Supervised Modeling: 15,790 (6.5%)</a:t>
            </a:r>
          </a:p>
          <a:p>
            <a:pPr>
              <a:lnSpc>
                <a:spcPct val="115000"/>
              </a:lnSpc>
              <a:spcAft>
                <a:spcPts val="800"/>
              </a:spcAft>
            </a:pPr>
            <a:r>
              <a:rPr sz="1700" b="1">
                <a:solidFill>
                  <a:srgbClr val="57306E"/>
                </a:solidFill>
                <a:latin typeface="Montserrat"/>
              </a:rPr>
              <a:t>   Rationale: </a:t>
            </a:r>
            <a:r>
              <a:rPr sz="1700" b="0">
                <a:solidFill>
                  <a:srgbClr val="57306E"/>
                </a:solidFill>
                <a:latin typeface="Montserrat"/>
              </a:rPr>
              <a:t>Complete cases across price_php, sqm, bedrooms, bathrooms, and region.</a:t>
            </a:r>
          </a:p>
        </p:txBody>
      </p:sp>
      <p:sp>
        <p:nvSpPr>
          <p:cNvPr id="5" name="TextBox 4"/>
          <p:cNvSpPr txBox="1"/>
          <p:nvPr/>
        </p:nvSpPr>
        <p:spPr>
          <a:xfrm>
            <a:off x="9500000" y="2600000"/>
            <a:ext cx="7700000" cy="6800000"/>
          </a:xfrm>
          <a:prstGeom prst="rect">
            <a:avLst/>
          </a:prstGeom>
          <a:noFill/>
        </p:spPr>
        <p:txBody>
          <a:bodyPr wrap="square">
            <a:spAutoFit/>
          </a:bodyPr>
          <a:lstStyle/>
          <a:p>
            <a:pPr>
              <a:lnSpc>
                <a:spcPct val="115000"/>
              </a:lnSpc>
              <a:spcAft>
                <a:spcPts val="1200"/>
              </a:spcAft>
            </a:pPr>
            <a:r>
              <a:rPr sz="2300" b="1">
                <a:solidFill>
                  <a:srgbClr val="57306E"/>
                </a:solidFill>
                <a:latin typeface="Montserrat"/>
              </a:rPr>
              <a:t>Key Data Scrubbing Decisions:</a:t>
            </a:r>
          </a:p>
          <a:p>
            <a:pPr>
              <a:lnSpc>
                <a:spcPct val="115000"/>
              </a:lnSpc>
              <a:spcAft>
                <a:spcPts val="1000"/>
              </a:spcAft>
            </a:pPr>
            <a:r>
              <a:rPr sz="1900" b="1">
                <a:solidFill>
                  <a:srgbClr val="57306E"/>
                </a:solidFill>
                <a:latin typeface="Montserrat"/>
              </a:rPr>
              <a:t>• Sparsity Pruning: </a:t>
            </a:r>
            <a:r>
              <a:rPr sz="1900" b="0">
                <a:solidFill>
                  <a:srgbClr val="57306E"/>
                </a:solidFill>
                <a:latin typeface="Montserrat"/>
              </a:rPr>
              <a:t>Dropped district (77.5% null), barangay (83.4% null), property_subtype (69% null), and new_build_flag (79% null) to eliminate unreliable imputations.</a:t>
            </a:r>
          </a:p>
          <a:p>
            <a:pPr>
              <a:lnSpc>
                <a:spcPct val="115000"/>
              </a:lnSpc>
              <a:spcAft>
                <a:spcPts val="1000"/>
              </a:spcAft>
            </a:pPr>
            <a:r>
              <a:rPr sz="1900" b="1">
                <a:solidFill>
                  <a:srgbClr val="57306E"/>
                </a:solidFill>
                <a:latin typeface="Montserrat"/>
              </a:rPr>
              <a:t>• Structural Missingness: </a:t>
            </a:r>
            <a:r>
              <a:rPr sz="1900" b="0">
                <a:solidFill>
                  <a:srgbClr val="57306E"/>
                </a:solidFill>
                <a:latin typeface="Montserrat"/>
              </a:rPr>
              <a:t>Lots naturally have no bedrooms (97.7% null); studio condos have 0 bedrooms. Missingness is non-random, requiring category-stratified processing.</a:t>
            </a:r>
          </a:p>
          <a:p>
            <a:pPr>
              <a:lnSpc>
                <a:spcPct val="115000"/>
              </a:lnSpc>
              <a:spcAft>
                <a:spcPts val="1000"/>
              </a:spcAft>
            </a:pPr>
            <a:r>
              <a:rPr sz="1900" b="1">
                <a:solidFill>
                  <a:srgbClr val="57306E"/>
                </a:solidFill>
                <a:latin typeface="Montserrat"/>
              </a:rPr>
              <a:t>• Geographic Imputation: </a:t>
            </a:r>
            <a:r>
              <a:rPr sz="1900" b="0">
                <a:solidFill>
                  <a:srgbClr val="57306E"/>
                </a:solidFill>
                <a:latin typeface="Montserrat"/>
              </a:rPr>
              <a:t>Mapped unlinked regional strings as 'Unspecified' rather than discarding 56,057 location-valid city listings.</a:t>
            </a:r>
          </a:p>
          <a:p>
            <a:pPr>
              <a:lnSpc>
                <a:spcPct val="115000"/>
              </a:lnSpc>
              <a:spcAft>
                <a:spcPts val="600"/>
              </a:spcAft>
            </a:pPr>
            <a:r>
              <a:rPr sz="1900" b="1">
                <a:solidFill>
                  <a:srgbClr val="57306E"/>
                </a:solidFill>
                <a:latin typeface="Montserrat"/>
              </a:rPr>
              <a:t>• Modular Storage Pipeline: </a:t>
            </a:r>
            <a:r>
              <a:rPr sz="1900" b="0">
                <a:solidFill>
                  <a:srgbClr val="57306E"/>
                </a:solidFill>
                <a:latin typeface="Montserrat"/>
              </a:rPr>
              <a:t>Cleaned subsets saved as listings_clean.csv, listings_buildings.csv, and listings_residential.csv for reproducible downstream analytics.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3386361"/>
            <a:ext cx="6796487"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664241"/>
            <a:ext cx="12357735" cy="1703070"/>
          </a:xfrm>
          <a:prstGeom prst="rect">
            <a:avLst/>
          </a:prstGeom>
        </p:spPr>
        <p:txBody>
          <a:bodyPr lIns="0" tIns="0" rIns="0" bIns="0" rtlCol="0" anchor="t">
            <a:spAutoFit/>
          </a:bodyPr>
          <a:lstStyle/>
          <a:p>
            <a:pPr algn="l">
              <a:lnSpc>
                <a:spcPts val="6480"/>
              </a:lnSpc>
            </a:pPr>
            <a:r>
              <a:rPr lang="en-US" sz="7200" b="1">
                <a:solidFill>
                  <a:srgbClr val="57306E"/>
                </a:solidFill>
                <a:latin typeface="Montserrat Bold"/>
                <a:ea typeface="Montserrat Bold"/>
                <a:cs typeface="Montserrat Bold"/>
                <a:sym typeface="Montserrat Bold"/>
              </a:rPr>
              <a:t>EXPLORATORY DATA ANALYSIS (EDA) </a:t>
            </a:r>
          </a:p>
        </p:txBody>
      </p:sp>
      <p:sp>
        <p:nvSpPr>
          <p:cNvPr id="4" name="Freeform 4"/>
          <p:cNvSpPr/>
          <p:nvPr/>
        </p:nvSpPr>
        <p:spPr>
          <a:xfrm>
            <a:off x="13345429" y="-412901"/>
            <a:ext cx="5243598" cy="3117557"/>
          </a:xfrm>
          <a:custGeom>
            <a:avLst/>
            <a:gdLst/>
            <a:ahLst/>
            <a:cxnLst/>
            <a:rect l="l" t="t" r="r" b="b"/>
            <a:pathLst>
              <a:path w="5243598" h="3117557">
                <a:moveTo>
                  <a:pt x="0" y="0"/>
                </a:moveTo>
                <a:lnTo>
                  <a:pt x="5243598" y="0"/>
                </a:lnTo>
                <a:lnTo>
                  <a:pt x="5243598" y="3117558"/>
                </a:lnTo>
                <a:lnTo>
                  <a:pt x="0" y="31175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a:off x="8910208" y="-1552644"/>
            <a:ext cx="3105289" cy="3105289"/>
          </a:xfrm>
          <a:custGeom>
            <a:avLst/>
            <a:gdLst/>
            <a:ahLst/>
            <a:cxnLst/>
            <a:rect l="l" t="t" r="r" b="b"/>
            <a:pathLst>
              <a:path w="3105289" h="3105289">
                <a:moveTo>
                  <a:pt x="0" y="0"/>
                </a:moveTo>
                <a:lnTo>
                  <a:pt x="3105288" y="0"/>
                </a:lnTo>
                <a:lnTo>
                  <a:pt x="3105288" y="3105288"/>
                </a:lnTo>
                <a:lnTo>
                  <a:pt x="0" y="31052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6" name="Freeform 6"/>
          <p:cNvSpPr/>
          <p:nvPr/>
        </p:nvSpPr>
        <p:spPr>
          <a:xfrm>
            <a:off x="1028700" y="3519701"/>
            <a:ext cx="7626344" cy="6158240"/>
          </a:xfrm>
          <a:custGeom>
            <a:avLst/>
            <a:gdLst/>
            <a:ahLst/>
            <a:cxnLst/>
            <a:rect l="l" t="t" r="r" b="b"/>
            <a:pathLst>
              <a:path w="7626344" h="6158240">
                <a:moveTo>
                  <a:pt x="0" y="0"/>
                </a:moveTo>
                <a:lnTo>
                  <a:pt x="7626344" y="0"/>
                </a:lnTo>
                <a:lnTo>
                  <a:pt x="7626344" y="6158240"/>
                </a:lnTo>
                <a:lnTo>
                  <a:pt x="0" y="6158240"/>
                </a:lnTo>
                <a:lnTo>
                  <a:pt x="0" y="0"/>
                </a:lnTo>
                <a:close/>
              </a:path>
            </a:pathLst>
          </a:custGeom>
          <a:blipFill>
            <a:blip r:embed="rId4"/>
            <a:stretch>
              <a:fillRect/>
            </a:stretch>
          </a:blipFill>
        </p:spPr>
        <p:txBody>
          <a:bodyPr/>
          <a:lstStyle/>
          <a:p>
            <a:endParaRPr/>
          </a:p>
        </p:txBody>
      </p:sp>
      <p:sp>
        <p:nvSpPr>
          <p:cNvPr id="7" name="TextBox 7"/>
          <p:cNvSpPr txBox="1"/>
          <p:nvPr/>
        </p:nvSpPr>
        <p:spPr>
          <a:xfrm>
            <a:off x="8822665" y="3481601"/>
            <a:ext cx="8724673" cy="6299835"/>
          </a:xfrm>
          <a:prstGeom prst="rect">
            <a:avLst/>
          </a:prstGeom>
        </p:spPr>
        <p:txBody>
          <a:bodyPr lIns="0" tIns="0" rIns="0" bIns="0" rtlCol="0" anchor="t">
            <a:spAutoFit/>
          </a:bodyPr>
          <a:lstStyle/>
          <a:p>
            <a:pPr algn="just">
              <a:lnSpc>
                <a:spcPct val="115000"/>
              </a:lnSpc>
              <a:spcAft>
                <a:spcPts val="1000"/>
              </a:spcAft>
            </a:pPr>
            <a:r>
              <a:rPr sz="2400" b="1">
                <a:solidFill>
                  <a:srgbClr val="57306E"/>
                </a:solidFill>
                <a:latin typeface="Montserrat"/>
              </a:rPr>
              <a:t>Important Patterns Identified in EDA:</a:t>
            </a:r>
          </a:p>
          <a:p>
            <a:pPr>
              <a:lnSpc>
                <a:spcPct val="115000"/>
              </a:lnSpc>
              <a:spcAft>
                <a:spcPts val="800"/>
              </a:spcAft>
            </a:pPr>
            <a:r>
              <a:rPr sz="1900" b="1">
                <a:solidFill>
                  <a:srgbClr val="57306E"/>
                </a:solidFill>
                <a:latin typeface="Montserrat"/>
              </a:rPr>
              <a:t>• Severe Price Skewness: </a:t>
            </a:r>
            <a:r>
              <a:rPr sz="1900" b="0">
                <a:solidFill>
                  <a:srgbClr val="57306E"/>
                </a:solidFill>
                <a:latin typeface="Montserrat"/>
              </a:rPr>
              <a:t>Median is PHP 12.3M, but the mean is PHP 41.6M (3.4x higher) due to ultra-luxury listings up to PHP 1B. Log scales and medians are mathematically required.</a:t>
            </a:r>
          </a:p>
          <a:p>
            <a:pPr>
              <a:lnSpc>
                <a:spcPct val="115000"/>
              </a:lnSpc>
              <a:spcAft>
                <a:spcPts val="800"/>
              </a:spcAft>
            </a:pPr>
            <a:r>
              <a:rPr sz="1900" b="1">
                <a:solidFill>
                  <a:srgbClr val="57306E"/>
                </a:solidFill>
                <a:latin typeface="Montserrat"/>
              </a:rPr>
              <a:t>• Property Types &amp; Rooms: </a:t>
            </a:r>
            <a:r>
              <a:rPr sz="1900" b="0">
                <a:solidFill>
                  <a:srgbClr val="57306E"/>
                </a:solidFill>
                <a:latin typeface="Montserrat"/>
              </a:rPr>
              <a:t>Houses (40.2%) and condos (36.5%) dominate. Prices scale with bedrooms (1BR PHP 7.0M → 3BR PHP 14.0M → 5BR PHP 35.0M).</a:t>
            </a:r>
          </a:p>
          <a:p>
            <a:pPr>
              <a:lnSpc>
                <a:spcPct val="115000"/>
              </a:lnSpc>
              <a:spcAft>
                <a:spcPts val="800"/>
              </a:spcAft>
            </a:pPr>
            <a:r>
              <a:rPr sz="1900" b="1">
                <a:solidFill>
                  <a:srgbClr val="57306E"/>
                </a:solidFill>
                <a:latin typeface="Montserrat"/>
              </a:rPr>
              <a:t>• Condominium Price Paradox: </a:t>
            </a:r>
            <a:r>
              <a:rPr sz="1900" b="0">
                <a:solidFill>
                  <a:srgbClr val="57306E"/>
                </a:solidFill>
                <a:latin typeface="Montserrat"/>
              </a:rPr>
              <a:t>Condos show lower raw median price due to compact unit sizes, but command a +43.3% premium over houses of equivalent size in prime urban CBDs.</a:t>
            </a:r>
          </a:p>
          <a:p>
            <a:pPr>
              <a:lnSpc>
                <a:spcPct val="115000"/>
              </a:lnSpc>
              <a:spcAft>
                <a:spcPts val="800"/>
              </a:spcAft>
            </a:pPr>
            <a:r>
              <a:rPr sz="1900" b="1">
                <a:solidFill>
                  <a:srgbClr val="57306E"/>
                </a:solidFill>
                <a:latin typeface="Montserrat"/>
              </a:rPr>
              <a:t>• Non-Random Gaps &amp; Outliers: </a:t>
            </a:r>
            <a:r>
              <a:rPr sz="1900" b="0">
                <a:solidFill>
                  <a:srgbClr val="57306E"/>
                </a:solidFill>
                <a:latin typeface="Montserrat"/>
              </a:rPr>
              <a:t>Bedrooms up to 301 and bathrooms up to 660 reflect commercial dorms/hotels or entry errors. Gaps follow logic (lots have no bedrooms; region missing varies by portal 0%–40.2%).</a:t>
            </a:r>
          </a:p>
          <a:p>
            <a:pPr>
              <a:lnSpc>
                <a:spcPct val="115000"/>
              </a:lnSpc>
              <a:spcAft>
                <a:spcPts val="400"/>
              </a:spcAft>
            </a:pPr>
            <a:r>
              <a:rPr sz="1900" b="1">
                <a:solidFill>
                  <a:srgbClr val="57306E"/>
                </a:solidFill>
                <a:latin typeface="Montserrat"/>
              </a:rPr>
              <a:t>• Active vs. Inactive Inventory: </a:t>
            </a:r>
            <a:r>
              <a:rPr sz="1900" b="0">
                <a:solidFill>
                  <a:srgbClr val="57306E"/>
                </a:solidFill>
                <a:latin typeface="Montserrat"/>
              </a:rPr>
              <a:t>15,058 cross-platform duplicates removed. Only 20.7% are active (median PHP 10.0M vs inactive PHP 13.0M), indicating faster turnover for affordable inventory.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flipV="1">
            <a:off x="1028700" y="2411040"/>
            <a:ext cx="8970678"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238250"/>
            <a:ext cx="12858101" cy="883920"/>
          </a:xfrm>
          <a:prstGeom prst="rect">
            <a:avLst/>
          </a:prstGeom>
        </p:spPr>
        <p:txBody>
          <a:bodyPr lIns="0" tIns="0" rIns="0" bIns="0" rtlCol="0" anchor="t">
            <a:spAutoFit/>
          </a:bodyPr>
          <a:lstStyle/>
          <a:p>
            <a:pPr algn="l">
              <a:lnSpc>
                <a:spcPts val="6480"/>
              </a:lnSpc>
            </a:pPr>
            <a:r>
              <a:rPr lang="en-US" sz="7200" b="1">
                <a:solidFill>
                  <a:srgbClr val="57306E"/>
                </a:solidFill>
                <a:latin typeface="Montserrat Bold"/>
                <a:ea typeface="Montserrat Bold"/>
                <a:cs typeface="Montserrat Bold"/>
                <a:sym typeface="Montserrat Bold"/>
              </a:rPr>
              <a:t>DATA VISUALIZATION 1</a:t>
            </a:r>
          </a:p>
        </p:txBody>
      </p:sp>
      <p:sp>
        <p:nvSpPr>
          <p:cNvPr id="4" name="Freeform 4"/>
          <p:cNvSpPr/>
          <p:nvPr/>
        </p:nvSpPr>
        <p:spPr>
          <a:xfrm>
            <a:off x="12894339" y="-412901"/>
            <a:ext cx="5694689" cy="3385751"/>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a:off x="-1143000" y="849630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TextBox 7"/>
          <p:cNvSpPr txBox="1"/>
          <p:nvPr/>
        </p:nvSpPr>
        <p:spPr>
          <a:xfrm>
            <a:off x="1024128" y="2468880"/>
            <a:ext cx="7589520" cy="6858000"/>
          </a:xfrm>
          <a:prstGeom prst="rect">
            <a:avLst/>
          </a:prstGeom>
        </p:spPr>
        <p:txBody>
          <a:bodyPr lIns="0" tIns="0" rIns="0" bIns="0" rtlCol="0" anchor="t">
            <a:spAutoFit/>
          </a:bodyPr>
          <a:lstStyle/>
          <a:p>
            <a:pPr algn="just">
              <a:lnSpc>
                <a:spcPts val="4200"/>
              </a:lnSpc>
              <a:spcAft>
                <a:spcPts val="600"/>
              </a:spcAft>
              <a:defRPr sz="2200" b="1">
                <a:solidFill>
                  <a:srgbClr val="1D2D68"/>
                </a:solidFill>
                <a:latin typeface="Segoe UI"/>
              </a:defRPr>
            </a:pPr>
            <a:r>
              <a:t>Purpose of Visualization:</a:t>
            </a:r>
          </a:p>
          <a:p>
            <a:pPr>
              <a:spcAft>
                <a:spcPts val="1800"/>
              </a:spcAft>
              <a:defRPr sz="1650">
                <a:solidFill>
                  <a:srgbClr val="1E293B"/>
                </a:solidFill>
                <a:latin typeface="Segoe UI"/>
              </a:defRPr>
            </a:pPr>
            <a:r>
              <a:t>To compare typical asking prices, dispersion, and extreme values across the three major property typologies (condominiums, houses, and vacant lots) in the Philippine market.</a:t>
            </a:r>
          </a:p>
          <a:p>
            <a:pPr>
              <a:spcAft>
                <a:spcPts val="800"/>
              </a:spcAft>
              <a:defRPr sz="2200" b="1">
                <a:solidFill>
                  <a:srgbClr val="1D2D68"/>
                </a:solidFill>
                <a:latin typeface="Segoe UI"/>
              </a:defRPr>
            </a:pPr>
            <a:r>
              <a:t>Key Findings &amp; Interpretation:</a:t>
            </a:r>
          </a:p>
          <a:p>
            <a:pPr>
              <a:spcAft>
                <a:spcPts val="800"/>
              </a:spcAft>
            </a:pPr>
            <a:r>
              <a:rPr sz="1550" b="1">
                <a:solidFill>
                  <a:srgbClr val="1D2D68"/>
                </a:solidFill>
                <a:latin typeface="Segoe UI"/>
              </a:rPr>
              <a:t>• Logarithmic Scale: </a:t>
            </a:r>
            <a:r>
              <a:rPr sz="1550">
                <a:solidFill>
                  <a:srgbClr val="1E293B"/>
                </a:solidFill>
                <a:latin typeface="Segoe UI"/>
              </a:rPr>
              <a:t>Prices are severely right-skewed with ultra-luxury listings topping at PHP 1.0B. A log10 scale normalizes distributions for valid visual comparison.</a:t>
            </a:r>
          </a:p>
          <a:p>
            <a:pPr>
              <a:spcAft>
                <a:spcPts val="800"/>
              </a:spcAft>
            </a:pPr>
            <a:r>
              <a:rPr sz="1550" b="1">
                <a:solidFill>
                  <a:srgbClr val="1D2D68"/>
                </a:solidFill>
                <a:latin typeface="Segoe UI"/>
              </a:rPr>
              <a:t>• Condominium Profile: </a:t>
            </a:r>
            <a:r>
              <a:rPr sz="1550">
                <a:solidFill>
                  <a:srgbClr val="1E293B"/>
                </a:solidFill>
                <a:latin typeface="Segoe UI"/>
              </a:rPr>
              <a:t>Condominiums show the lowest median asking price (PHP 7.2M) due to compact sizes, but display dense high-value outliers in prime urban CBDs.</a:t>
            </a:r>
          </a:p>
          <a:p>
            <a:pPr>
              <a:spcAft>
                <a:spcPts val="800"/>
              </a:spcAft>
            </a:pPr>
            <a:r>
              <a:rPr sz="1550" b="1">
                <a:solidFill>
                  <a:srgbClr val="1D2D68"/>
                </a:solidFill>
                <a:latin typeface="Segoe UI"/>
              </a:rPr>
              <a:t>• Vacant Lot Variance: </a:t>
            </a:r>
            <a:r>
              <a:rPr sz="1550">
                <a:solidFill>
                  <a:srgbClr val="1E293B"/>
                </a:solidFill>
                <a:latin typeface="Segoe UI"/>
              </a:rPr>
              <a:t>Lots exhibit the widest spread, spanning from affordable residential plots to massive commercial and industrial acreage.</a:t>
            </a:r>
          </a:p>
          <a:p>
            <a:pPr>
              <a:spcAft>
                <a:spcPts val="800"/>
              </a:spcAft>
            </a:pPr>
            <a:r>
              <a:rPr sz="1550" b="1">
                <a:solidFill>
                  <a:srgbClr val="1D2D68"/>
                </a:solidFill>
                <a:latin typeface="Segoe UI"/>
              </a:rPr>
              <a:t>• House Segment: </a:t>
            </a:r>
            <a:r>
              <a:rPr sz="1550">
                <a:solidFill>
                  <a:srgbClr val="1E293B"/>
                </a:solidFill>
                <a:latin typeface="Segoe UI"/>
              </a:rPr>
              <a:t>Houses reflect a substantial median price (PHP 11.2M), driven by horizontal compound land value and higher room counts.</a:t>
            </a:r>
          </a:p>
        </p:txBody>
      </p:sp>
      <p:pic>
        <p:nvPicPr>
          <p:cNvPr id="8" name="Visualization_1_Boxplot" descr="image.png"/>
          <p:cNvPicPr>
            <a:picLocks noChangeAspect="1"/>
          </p:cNvPicPr>
          <p:nvPr/>
        </p:nvPicPr>
        <p:blipFill>
          <a:blip r:embed="rId4"/>
          <a:stretch>
            <a:fillRect/>
          </a:stretch>
        </p:blipFill>
        <p:spPr>
          <a:xfrm>
            <a:off x="8961120" y="2788920"/>
            <a:ext cx="8595360" cy="5372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flipV="1">
            <a:off x="1028700" y="2411040"/>
            <a:ext cx="8970678"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238250"/>
            <a:ext cx="12858101" cy="883920"/>
          </a:xfrm>
          <a:prstGeom prst="rect">
            <a:avLst/>
          </a:prstGeom>
        </p:spPr>
        <p:txBody>
          <a:bodyPr lIns="0" tIns="0" rIns="0" bIns="0" rtlCol="0" anchor="t">
            <a:spAutoFit/>
          </a:bodyPr>
          <a:lstStyle/>
          <a:p>
            <a:pPr algn="l">
              <a:lnSpc>
                <a:spcPts val="6480"/>
              </a:lnSpc>
            </a:pPr>
            <a:r>
              <a:rPr lang="en-US" sz="7200" b="1">
                <a:solidFill>
                  <a:srgbClr val="57306E"/>
                </a:solidFill>
                <a:latin typeface="Montserrat Bold"/>
                <a:ea typeface="Montserrat Bold"/>
                <a:cs typeface="Montserrat Bold"/>
                <a:sym typeface="Montserrat Bold"/>
              </a:rPr>
              <a:t>DATA VISUALIZATION 2</a:t>
            </a:r>
          </a:p>
        </p:txBody>
      </p:sp>
      <p:sp>
        <p:nvSpPr>
          <p:cNvPr id="4" name="Freeform 4"/>
          <p:cNvSpPr/>
          <p:nvPr/>
        </p:nvSpPr>
        <p:spPr>
          <a:xfrm>
            <a:off x="12894339" y="-412901"/>
            <a:ext cx="5694689" cy="3385751"/>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a:off x="-1066800" y="857250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TextBox 7"/>
          <p:cNvSpPr txBox="1"/>
          <p:nvPr/>
        </p:nvSpPr>
        <p:spPr>
          <a:xfrm>
            <a:off x="1024128" y="2468880"/>
            <a:ext cx="7589520" cy="6858000"/>
          </a:xfrm>
          <a:prstGeom prst="rect">
            <a:avLst/>
          </a:prstGeom>
        </p:spPr>
        <p:txBody>
          <a:bodyPr lIns="0" tIns="0" rIns="0" bIns="0" rtlCol="0" anchor="t">
            <a:spAutoFit/>
          </a:bodyPr>
          <a:lstStyle/>
          <a:p>
            <a:pPr algn="just">
              <a:lnSpc>
                <a:spcPts val="4200"/>
              </a:lnSpc>
              <a:spcAft>
                <a:spcPts val="600"/>
              </a:spcAft>
              <a:defRPr sz="2200" b="1">
                <a:solidFill>
                  <a:srgbClr val="1D2D68"/>
                </a:solidFill>
                <a:latin typeface="Segoe UI"/>
              </a:defRPr>
            </a:pPr>
            <a:r>
              <a:t>Purpose of Visualization:</a:t>
            </a:r>
          </a:p>
          <a:p>
            <a:pPr>
              <a:spcAft>
                <a:spcPts val="1800"/>
              </a:spcAft>
              <a:defRPr sz="1650">
                <a:solidFill>
                  <a:srgbClr val="1E293B"/>
                </a:solidFill>
                <a:latin typeface="Segoe UI"/>
              </a:defRPr>
            </a:pPr>
            <a:r>
              <a:t>To rank and benchmark the top 10 Philippine administrative regions by median price per square meter, isolating pure land value intensity from total property footprint.</a:t>
            </a:r>
          </a:p>
          <a:p>
            <a:pPr>
              <a:spcAft>
                <a:spcPts val="800"/>
              </a:spcAft>
              <a:defRPr sz="2200" b="1">
                <a:solidFill>
                  <a:srgbClr val="1D2D68"/>
                </a:solidFill>
                <a:latin typeface="Segoe UI"/>
              </a:defRPr>
            </a:pPr>
            <a:r>
              <a:t>Key Findings &amp; Interpretation:</a:t>
            </a:r>
          </a:p>
          <a:p>
            <a:pPr>
              <a:spcAft>
                <a:spcPts val="800"/>
              </a:spcAft>
            </a:pPr>
            <a:r>
              <a:rPr sz="1550" b="1">
                <a:solidFill>
                  <a:srgbClr val="1D2D68"/>
                </a:solidFill>
                <a:latin typeface="Segoe UI"/>
              </a:rPr>
              <a:t>• NCR Market Primacy: </a:t>
            </a:r>
            <a:r>
              <a:rPr sz="1550">
                <a:solidFill>
                  <a:srgbClr val="1E293B"/>
                </a:solidFill>
                <a:latin typeface="Segoe UI"/>
              </a:rPr>
              <a:t>The National Capital Region heavily dominates with a median price of PHP 179,931/sqm, reflecting extreme commercial density and land scarcity in Metro Manila.</a:t>
            </a:r>
          </a:p>
          <a:p>
            <a:pPr>
              <a:spcAft>
                <a:spcPts val="800"/>
              </a:spcAft>
            </a:pPr>
            <a:r>
              <a:rPr sz="1550" b="1">
                <a:solidFill>
                  <a:srgbClr val="1D2D68"/>
                </a:solidFill>
                <a:latin typeface="Segoe UI"/>
              </a:rPr>
              <a:t>• Central Visayas (Region VII) Hub: </a:t>
            </a:r>
            <a:r>
              <a:rPr sz="1550">
                <a:solidFill>
                  <a:srgbClr val="1E293B"/>
                </a:solidFill>
                <a:latin typeface="Segoe UI"/>
              </a:rPr>
              <a:t>Ranks second nationally at PHP 110,400/sqm, solidifying Metro Cebu and Cebu IT Park as the leading economic growth pole outside Luzon.</a:t>
            </a:r>
          </a:p>
          <a:p>
            <a:pPr>
              <a:spcAft>
                <a:spcPts val="800"/>
              </a:spcAft>
            </a:pPr>
            <a:r>
              <a:rPr sz="1550" b="1">
                <a:solidFill>
                  <a:srgbClr val="1D2D68"/>
                </a:solidFill>
                <a:latin typeface="Segoe UI"/>
              </a:rPr>
              <a:t>• Provincial Corridors: </a:t>
            </a:r>
            <a:r>
              <a:rPr sz="1550">
                <a:solidFill>
                  <a:srgbClr val="1E293B"/>
                </a:solidFill>
                <a:latin typeface="Segoe UI"/>
              </a:rPr>
              <a:t>Western Visayas (PHP 76,000/sqm), Davao Region (PHP 71,400/sqm), and CALABARZON (PHP 67,500/sqm) follow, forming affordable suburban alternatives.</a:t>
            </a:r>
          </a:p>
          <a:p>
            <a:pPr>
              <a:spcAft>
                <a:spcPts val="800"/>
              </a:spcAft>
            </a:pPr>
            <a:r>
              <a:rPr sz="1550" b="1">
                <a:solidFill>
                  <a:srgbClr val="1D2D68"/>
                </a:solidFill>
                <a:latin typeface="Segoe UI"/>
              </a:rPr>
              <a:t>• Location Multiplier: </a:t>
            </a:r>
            <a:r>
              <a:rPr sz="1550">
                <a:solidFill>
                  <a:srgbClr val="1E293B"/>
                </a:solidFill>
                <a:latin typeface="Segoe UI"/>
              </a:rPr>
              <a:t>A property of identical size is worth over 2.5x more per square meter in NCR than in Central Luzon (PHP 57,000/sqm), proving location is the primary valuation driver.</a:t>
            </a:r>
          </a:p>
        </p:txBody>
      </p:sp>
      <p:pic>
        <p:nvPicPr>
          <p:cNvPr id="8" name="Visualization_2_BarChart" descr="image.png"/>
          <p:cNvPicPr>
            <a:picLocks noChangeAspect="1"/>
          </p:cNvPicPr>
          <p:nvPr/>
        </p:nvPicPr>
        <p:blipFill>
          <a:blip r:embed="rId4"/>
          <a:stretch>
            <a:fillRect/>
          </a:stretch>
        </p:blipFill>
        <p:spPr>
          <a:xfrm>
            <a:off x="8961120" y="2788920"/>
            <a:ext cx="8595360" cy="5372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flipV="1">
            <a:off x="1028700" y="2411040"/>
            <a:ext cx="8970678"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238250"/>
            <a:ext cx="12858101" cy="883920"/>
          </a:xfrm>
          <a:prstGeom prst="rect">
            <a:avLst/>
          </a:prstGeom>
        </p:spPr>
        <p:txBody>
          <a:bodyPr lIns="0" tIns="0" rIns="0" bIns="0" rtlCol="0" anchor="t">
            <a:spAutoFit/>
          </a:bodyPr>
          <a:lstStyle/>
          <a:p>
            <a:pPr algn="l">
              <a:lnSpc>
                <a:spcPts val="6480"/>
              </a:lnSpc>
            </a:pPr>
            <a:r>
              <a:rPr lang="en-US" sz="7200" b="1">
                <a:solidFill>
                  <a:srgbClr val="57306E"/>
                </a:solidFill>
                <a:latin typeface="Montserrat Bold"/>
                <a:ea typeface="Montserrat Bold"/>
                <a:cs typeface="Montserrat Bold"/>
                <a:sym typeface="Montserrat Bold"/>
              </a:rPr>
              <a:t>DATA VISUALIZATION 3</a:t>
            </a:r>
          </a:p>
        </p:txBody>
      </p:sp>
      <p:sp>
        <p:nvSpPr>
          <p:cNvPr id="4" name="Freeform 4"/>
          <p:cNvSpPr/>
          <p:nvPr/>
        </p:nvSpPr>
        <p:spPr>
          <a:xfrm>
            <a:off x="12894339" y="-412901"/>
            <a:ext cx="5694689" cy="3385751"/>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a:off x="-1130846" y="864870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TextBox 7"/>
          <p:cNvSpPr txBox="1"/>
          <p:nvPr/>
        </p:nvSpPr>
        <p:spPr>
          <a:xfrm>
            <a:off x="1024128" y="2468880"/>
            <a:ext cx="7589520" cy="6858000"/>
          </a:xfrm>
          <a:prstGeom prst="rect">
            <a:avLst/>
          </a:prstGeom>
        </p:spPr>
        <p:txBody>
          <a:bodyPr lIns="0" tIns="0" rIns="0" bIns="0" rtlCol="0" anchor="t">
            <a:spAutoFit/>
          </a:bodyPr>
          <a:lstStyle/>
          <a:p>
            <a:pPr algn="just">
              <a:lnSpc>
                <a:spcPts val="4200"/>
              </a:lnSpc>
              <a:spcAft>
                <a:spcPts val="600"/>
              </a:spcAft>
              <a:defRPr sz="2200" b="1">
                <a:solidFill>
                  <a:srgbClr val="1D2D68"/>
                </a:solidFill>
                <a:latin typeface="Segoe UI"/>
              </a:defRPr>
            </a:pPr>
            <a:r>
              <a:t>Purpose of Visualization:</a:t>
            </a:r>
          </a:p>
          <a:p>
            <a:pPr>
              <a:spcAft>
                <a:spcPts val="1800"/>
              </a:spcAft>
              <a:defRPr sz="1650">
                <a:solidFill>
                  <a:srgbClr val="1E293B"/>
                </a:solidFill>
                <a:latin typeface="Segoe UI"/>
              </a:defRPr>
            </a:pPr>
            <a:r>
              <a:t>To compare price density distributions of active market inventory against inactive/delisted listings across houses and condominiums, evaluating market turnover velocity.</a:t>
            </a:r>
          </a:p>
          <a:p>
            <a:pPr>
              <a:spcAft>
                <a:spcPts val="800"/>
              </a:spcAft>
              <a:defRPr sz="2200" b="1">
                <a:solidFill>
                  <a:srgbClr val="1D2D68"/>
                </a:solidFill>
                <a:latin typeface="Segoe UI"/>
              </a:defRPr>
            </a:pPr>
            <a:r>
              <a:t>Key Findings &amp; Interpretation:</a:t>
            </a:r>
          </a:p>
          <a:p>
            <a:pPr>
              <a:spcAft>
                <a:spcPts val="800"/>
              </a:spcAft>
            </a:pPr>
            <a:r>
              <a:rPr sz="1550" b="1">
                <a:solidFill>
                  <a:srgbClr val="1D2D68"/>
                </a:solidFill>
                <a:latin typeface="Segoe UI"/>
              </a:rPr>
              <a:t>• Inactive Curve Right-Shift: </a:t>
            </a:r>
            <a:r>
              <a:rPr sz="1550">
                <a:solidFill>
                  <a:srgbClr val="1E293B"/>
                </a:solidFill>
                <a:latin typeface="Segoe UI"/>
              </a:rPr>
              <a:t>The density curve for inactive/delisted listings (red) consistently peaks to the right of active inventory (blue) across both residential typologies.</a:t>
            </a:r>
          </a:p>
          <a:p>
            <a:pPr>
              <a:spcAft>
                <a:spcPts val="800"/>
              </a:spcAft>
            </a:pPr>
            <a:r>
              <a:rPr sz="1550" b="1">
                <a:solidFill>
                  <a:srgbClr val="1D2D68"/>
                </a:solidFill>
                <a:latin typeface="Segoe UI"/>
              </a:rPr>
              <a:t>• Turnover Velocity Disparity: </a:t>
            </a:r>
            <a:r>
              <a:rPr sz="1550">
                <a:solidFill>
                  <a:srgbClr val="1E293B"/>
                </a:solidFill>
                <a:latin typeface="Segoe UI"/>
              </a:rPr>
              <a:t>Lower-priced, accessible residential units (sub-PHP 10M) sell or cycle off portals rapidly, maintaining a lower active median (PHP 10.0M).</a:t>
            </a:r>
          </a:p>
          <a:p>
            <a:pPr>
              <a:spcAft>
                <a:spcPts val="800"/>
              </a:spcAft>
            </a:pPr>
            <a:r>
              <a:rPr sz="1550" b="1">
                <a:solidFill>
                  <a:srgbClr val="1D2D68"/>
                </a:solidFill>
                <a:latin typeface="Segoe UI"/>
              </a:rPr>
              <a:t>• Luxury Stagnation: </a:t>
            </a:r>
            <a:r>
              <a:rPr sz="1550">
                <a:solidFill>
                  <a:srgbClr val="1E293B"/>
                </a:solidFill>
                <a:latin typeface="Segoe UI"/>
              </a:rPr>
              <a:t>Ultra-luxury properties linger on portals for prolonged listing durations before being delisted or renegotiated (inactive median PHP 13.0M).</a:t>
            </a:r>
          </a:p>
          <a:p>
            <a:pPr>
              <a:spcAft>
                <a:spcPts val="800"/>
              </a:spcAft>
            </a:pPr>
            <a:r>
              <a:rPr sz="1550" b="1">
                <a:solidFill>
                  <a:srgbClr val="1D2D68"/>
                </a:solidFill>
                <a:latin typeface="Segoe UI"/>
              </a:rPr>
              <a:t>• Pipeline Filtering Validation: </a:t>
            </a:r>
            <a:r>
              <a:rPr sz="1550">
                <a:solidFill>
                  <a:srgbClr val="1E293B"/>
                </a:solidFill>
                <a:latin typeface="Segoe UI"/>
              </a:rPr>
              <a:t>Filtering exclusively to active listings (20.7% retained) protects regression models from outdated and stagnant historical seller expectations.</a:t>
            </a:r>
          </a:p>
        </p:txBody>
      </p:sp>
      <p:pic>
        <p:nvPicPr>
          <p:cNvPr id="8" name="Visualization_3_DensityPlot" descr="image.png"/>
          <p:cNvPicPr>
            <a:picLocks noChangeAspect="1"/>
          </p:cNvPicPr>
          <p:nvPr/>
        </p:nvPicPr>
        <p:blipFill>
          <a:blip r:embed="rId4"/>
          <a:stretch>
            <a:fillRect/>
          </a:stretch>
        </p:blipFill>
        <p:spPr>
          <a:xfrm>
            <a:off x="9372600" y="2606040"/>
            <a:ext cx="7799831" cy="58521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extBox 1"/>
          <p:cNvSpPr txBox="1"/>
          <p:nvPr/>
        </p:nvSpPr>
        <p:spPr>
          <a:xfrm>
            <a:off x="1028700" y="647700"/>
            <a:ext cx="16230600" cy="1754326"/>
          </a:xfrm>
          <a:prstGeom prst="rect">
            <a:avLst/>
          </a:prstGeom>
          <a:noFill/>
        </p:spPr>
        <p:txBody>
          <a:bodyPr wrap="square">
            <a:spAutoFit/>
          </a:bodyPr>
          <a:lstStyle/>
          <a:p>
            <a:pPr>
              <a:defRPr sz="5400" b="1">
                <a:solidFill>
                  <a:srgbClr val="57306E"/>
                </a:solidFill>
                <a:latin typeface="Montserrat"/>
              </a:defRPr>
            </a:pPr>
            <a:r>
              <a:rPr dirty="0">
                <a:latin typeface="Montserrat Bold" panose="020B0604020202020204" charset="0"/>
              </a:rPr>
              <a:t>INTERACTIVE VALUATION DASHBOARD (UI/UX)</a:t>
            </a:r>
          </a:p>
        </p:txBody>
      </p:sp>
      <p:sp>
        <p:nvSpPr>
          <p:cNvPr id="3" name="TextBox 2"/>
          <p:cNvSpPr txBox="1"/>
          <p:nvPr/>
        </p:nvSpPr>
        <p:spPr>
          <a:xfrm>
            <a:off x="1088431" y="2535494"/>
            <a:ext cx="16230600" cy="502920"/>
          </a:xfrm>
          <a:prstGeom prst="rect">
            <a:avLst/>
          </a:prstGeom>
          <a:noFill/>
        </p:spPr>
        <p:txBody>
          <a:bodyPr wrap="none">
            <a:spAutoFit/>
          </a:bodyPr>
          <a:lstStyle/>
          <a:p>
            <a:r>
              <a:rPr dirty="0"/>
              <a:t>Operational R Shiny &amp; </a:t>
            </a:r>
            <a:r>
              <a:rPr dirty="0" err="1"/>
              <a:t>Plotly</a:t>
            </a:r>
            <a:r>
              <a:rPr dirty="0"/>
              <a:t> Decision-Support Application (</a:t>
            </a:r>
            <a:r>
              <a:rPr dirty="0" err="1"/>
              <a:t>app.R</a:t>
            </a:r>
            <a:r>
              <a:rPr dirty="0"/>
              <a:t>)</a:t>
            </a:r>
          </a:p>
        </p:txBody>
      </p:sp>
      <p:sp>
        <p:nvSpPr>
          <p:cNvPr id="4" name="TextBox 3"/>
          <p:cNvSpPr txBox="1"/>
          <p:nvPr/>
        </p:nvSpPr>
        <p:spPr>
          <a:xfrm>
            <a:off x="1088431" y="2771714"/>
            <a:ext cx="7680960" cy="7000891"/>
          </a:xfrm>
          <a:prstGeom prst="rect">
            <a:avLst/>
          </a:prstGeom>
          <a:noFill/>
        </p:spPr>
        <p:txBody>
          <a:bodyPr wrap="square">
            <a:spAutoFit/>
          </a:bodyPr>
          <a:lstStyle/>
          <a:p>
            <a:pPr>
              <a:lnSpc>
                <a:spcPct val="115000"/>
              </a:lnSpc>
              <a:spcAft>
                <a:spcPts val="1200"/>
              </a:spcAft>
              <a:defRPr sz="2000" b="1">
                <a:solidFill>
                  <a:srgbClr val="1D2D68"/>
                </a:solidFill>
                <a:latin typeface="Segoe UI"/>
              </a:defRPr>
            </a:pPr>
            <a:r>
              <a:rPr sz="3200" dirty="0"/>
              <a:t>Operational Architecture &amp; UI/UX Modules (</a:t>
            </a:r>
            <a:r>
              <a:rPr sz="3200" dirty="0" err="1"/>
              <a:t>app.R</a:t>
            </a:r>
            <a:r>
              <a:rPr sz="3200" dirty="0"/>
              <a:t>):</a:t>
            </a:r>
          </a:p>
          <a:p>
            <a:pPr>
              <a:spcAft>
                <a:spcPts val="800"/>
              </a:spcAft>
            </a:pPr>
            <a:r>
              <a:rPr sz="2000" b="1" dirty="0">
                <a:solidFill>
                  <a:srgbClr val="1D2D68"/>
                </a:solidFill>
                <a:latin typeface="Segoe UI"/>
              </a:rPr>
              <a:t>1. Executive KPI Engine: </a:t>
            </a:r>
            <a:r>
              <a:rPr dirty="0">
                <a:solidFill>
                  <a:srgbClr val="1E293B"/>
                </a:solidFill>
                <a:latin typeface="Segoe UI"/>
              </a:rPr>
              <a:t>Real-time cards computing Total Listings (241,496), Active Inventory (49,884, 20.7%), National Median (PHP 12.30M), NCR Price/m2 (PHP 179,931), and Model Accuracy (75.23%).</a:t>
            </a:r>
          </a:p>
          <a:p>
            <a:pPr>
              <a:spcAft>
                <a:spcPts val="800"/>
              </a:spcAft>
            </a:pPr>
            <a:r>
              <a:rPr sz="2000" b="1" dirty="0">
                <a:solidFill>
                  <a:srgbClr val="1D2D68"/>
                </a:solidFill>
                <a:latin typeface="Segoe UI"/>
              </a:rPr>
              <a:t>2. Data Health &amp; Missingness Audit: </a:t>
            </a:r>
            <a:r>
              <a:rPr dirty="0">
                <a:solidFill>
                  <a:srgbClr val="1E293B"/>
                </a:solidFill>
                <a:latin typeface="Segoe UI"/>
              </a:rPr>
              <a:t>Interactive toggle between Table 12 (Descriptive Stats) and Table 23 (Data Quality &amp; Attrition), paired with dynamic bedroom-price progression curves.</a:t>
            </a:r>
          </a:p>
          <a:p>
            <a:pPr>
              <a:spcAft>
                <a:spcPts val="800"/>
              </a:spcAft>
            </a:pPr>
            <a:r>
              <a:rPr sz="2000" b="1" dirty="0">
                <a:solidFill>
                  <a:srgbClr val="1D2D68"/>
                </a:solidFill>
                <a:latin typeface="Segoe UI"/>
              </a:rPr>
              <a:t>3. Property Type &amp; Regional Valuations: </a:t>
            </a:r>
            <a:r>
              <a:rPr dirty="0">
                <a:solidFill>
                  <a:srgbClr val="1E293B"/>
                </a:solidFill>
                <a:latin typeface="Segoe UI"/>
              </a:rPr>
              <a:t>Embedded </a:t>
            </a:r>
            <a:r>
              <a:rPr dirty="0" err="1">
                <a:solidFill>
                  <a:srgbClr val="1E293B"/>
                </a:solidFill>
                <a:latin typeface="Segoe UI"/>
              </a:rPr>
              <a:t>Plotly</a:t>
            </a:r>
            <a:r>
              <a:rPr dirty="0">
                <a:solidFill>
                  <a:srgbClr val="1E293B"/>
                </a:solidFill>
                <a:latin typeface="Segoe UI"/>
              </a:rPr>
              <a:t> interactive boxplots (Visualization 1) and regional bar charts (Visualization 2) with reactive zoom, hover inspect, and regional sorting.</a:t>
            </a:r>
          </a:p>
          <a:p>
            <a:pPr>
              <a:spcAft>
                <a:spcPts val="800"/>
              </a:spcAft>
            </a:pPr>
            <a:r>
              <a:rPr sz="2000" b="1" dirty="0">
                <a:solidFill>
                  <a:srgbClr val="1D2D68"/>
                </a:solidFill>
                <a:latin typeface="Segoe UI"/>
              </a:rPr>
              <a:t>4. Market Turnover Velocity: </a:t>
            </a:r>
            <a:r>
              <a:rPr dirty="0">
                <a:solidFill>
                  <a:srgbClr val="1E293B"/>
                </a:solidFill>
                <a:latin typeface="Segoe UI"/>
              </a:rPr>
              <a:t>Dual-panel density distribution analysis comparing active vs. inactive market turnover velocity across property typologies (Visualization 3).</a:t>
            </a:r>
          </a:p>
          <a:p>
            <a:pPr>
              <a:spcAft>
                <a:spcPts val="800"/>
              </a:spcAft>
            </a:pPr>
            <a:r>
              <a:rPr sz="2000" b="1" dirty="0">
                <a:solidFill>
                  <a:srgbClr val="1D2D68"/>
                </a:solidFill>
                <a:latin typeface="Segoe UI"/>
              </a:rPr>
              <a:t>5. Real-Time AVM Valuation Predictor: </a:t>
            </a:r>
            <a:r>
              <a:rPr dirty="0">
                <a:solidFill>
                  <a:srgbClr val="1E293B"/>
                </a:solidFill>
                <a:latin typeface="Segoe UI"/>
              </a:rPr>
              <a:t>Algorithmic decision-support tool taking user inputs (Type, Region, Floor Area, Beds, Baths) to render instant live predictions from Random Forest and MLR.</a:t>
            </a:r>
          </a:p>
          <a:p>
            <a:pPr>
              <a:spcAft>
                <a:spcPts val="800"/>
              </a:spcAft>
            </a:pPr>
            <a:r>
              <a:rPr sz="2000" b="1" dirty="0">
                <a:solidFill>
                  <a:srgbClr val="1D2D68"/>
                </a:solidFill>
                <a:latin typeface="Segoe UI"/>
              </a:rPr>
              <a:t>6. National University Design System: </a:t>
            </a:r>
            <a:r>
              <a:rPr dirty="0">
                <a:solidFill>
                  <a:srgbClr val="1E293B"/>
                </a:solidFill>
                <a:latin typeface="Segoe UI"/>
              </a:rPr>
              <a:t>Custom CSS in NU Navy (#1D2D68) and Gold (#FFC72C) styling, fully modular in </a:t>
            </a:r>
            <a:r>
              <a:rPr dirty="0" err="1">
                <a:solidFill>
                  <a:srgbClr val="1E293B"/>
                </a:solidFill>
                <a:latin typeface="Segoe UI"/>
              </a:rPr>
              <a:t>app.R</a:t>
            </a:r>
            <a:r>
              <a:rPr dirty="0">
                <a:solidFill>
                  <a:srgbClr val="1E293B"/>
                </a:solidFill>
                <a:latin typeface="Segoe UI"/>
              </a:rPr>
              <a:t> and runnable via shiny::</a:t>
            </a:r>
            <a:r>
              <a:rPr dirty="0" err="1">
                <a:solidFill>
                  <a:srgbClr val="1E293B"/>
                </a:solidFill>
                <a:latin typeface="Segoe UI"/>
              </a:rPr>
              <a:t>runApp</a:t>
            </a:r>
            <a:r>
              <a:rPr dirty="0">
                <a:solidFill>
                  <a:srgbClr val="1E293B"/>
                </a:solidFill>
                <a:latin typeface="Segoe UI"/>
              </a:rPr>
              <a:t>().</a:t>
            </a:r>
          </a:p>
        </p:txBody>
      </p:sp>
      <p:pic>
        <p:nvPicPr>
          <p:cNvPr id="7" name="Picture 6">
            <a:extLst>
              <a:ext uri="{FF2B5EF4-FFF2-40B4-BE49-F238E27FC236}">
                <a16:creationId xmlns:a16="http://schemas.microsoft.com/office/drawing/2014/main" id="{F401C5BB-87EA-75A0-DAD9-2092FEC95D86}"/>
              </a:ext>
            </a:extLst>
          </p:cNvPr>
          <p:cNvPicPr>
            <a:picLocks noChangeAspect="1"/>
          </p:cNvPicPr>
          <p:nvPr/>
        </p:nvPicPr>
        <p:blipFill>
          <a:blip r:embed="rId2"/>
          <a:stretch>
            <a:fillRect/>
          </a:stretch>
        </p:blipFill>
        <p:spPr>
          <a:xfrm>
            <a:off x="8961120" y="2514600"/>
            <a:ext cx="832104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3" name="TextBox 3"/>
          <p:cNvSpPr txBox="1"/>
          <p:nvPr/>
        </p:nvSpPr>
        <p:spPr>
          <a:xfrm>
            <a:off x="1024128" y="960120"/>
            <a:ext cx="16230600" cy="868680"/>
          </a:xfrm>
          <a:prstGeom prst="rect">
            <a:avLst/>
          </a:prstGeom>
        </p:spPr>
        <p:txBody>
          <a:bodyPr lIns="0" tIns="0" rIns="0" bIns="0" rtlCol="0" anchor="t">
            <a:spAutoFit/>
          </a:bodyPr>
          <a:lstStyle/>
          <a:p>
            <a:pPr algn="r">
              <a:lnSpc>
                <a:spcPts val="7200"/>
              </a:lnSpc>
              <a:defRPr sz="3600" b="1">
                <a:solidFill>
                  <a:srgbClr val="1D2D68"/>
                </a:solidFill>
                <a:latin typeface="Segoe UI"/>
              </a:defRPr>
            </a:pPr>
            <a:r>
              <a:rPr lang="en-US" sz="8000" b="1">
                <a:solidFill>
                  <a:srgbClr val="57306E"/>
                </a:solidFill>
                <a:latin typeface="Montserrat Bold"/>
                <a:ea typeface="Montserrat Bold"/>
                <a:cs typeface="Montserrat Bold"/>
                <a:sym typeface="Montserrat Bold"/>
              </a:rPr>
              <a:t>STATISTICAL ANALYSIS </a:t>
            </a:r>
          </a:p>
        </p:txBody>
      </p:sp>
      <p:sp>
        <p:nvSpPr>
          <p:cNvPr id="4" name="TextBox 3"/>
          <p:cNvSpPr txBox="1"/>
          <p:nvPr/>
        </p:nvSpPr>
        <p:spPr>
          <a:xfrm>
            <a:off x="1024128" y="1874519"/>
            <a:ext cx="9287286" cy="369332"/>
          </a:xfrm>
          <a:prstGeom prst="rect">
            <a:avLst/>
          </a:prstGeom>
          <a:noFill/>
        </p:spPr>
        <p:txBody>
          <a:bodyPr wrap="none">
            <a:spAutoFit/>
          </a:bodyPr>
          <a:lstStyle/>
          <a:p>
            <a:pPr>
              <a:defRPr sz="1800" b="1">
                <a:solidFill>
                  <a:srgbClr val="FFC72C"/>
                </a:solidFill>
                <a:latin typeface="Segoe UI"/>
              </a:defRPr>
            </a:pPr>
            <a:r>
              <a:rPr dirty="0">
                <a:solidFill>
                  <a:schemeClr val="tx2"/>
                </a:solidFill>
              </a:rPr>
              <a:t>Method Used: Supervised Machine Learning &amp; Dual-Model Framework (Section 7.1)</a:t>
            </a:r>
          </a:p>
        </p:txBody>
      </p:sp>
      <p:sp>
        <p:nvSpPr>
          <p:cNvPr id="5" name="TextBox 4"/>
          <p:cNvSpPr txBox="1"/>
          <p:nvPr/>
        </p:nvSpPr>
        <p:spPr>
          <a:xfrm>
            <a:off x="1024128" y="2560320"/>
            <a:ext cx="16230600" cy="6473567"/>
          </a:xfrm>
          <a:prstGeom prst="rect">
            <a:avLst/>
          </a:prstGeom>
          <a:noFill/>
        </p:spPr>
        <p:txBody>
          <a:bodyPr wrap="square">
            <a:spAutoFit/>
          </a:bodyPr>
          <a:lstStyle/>
          <a:p>
            <a:pPr>
              <a:spcAft>
                <a:spcPts val="1400"/>
              </a:spcAft>
            </a:pPr>
            <a:r>
              <a:rPr sz="2800" b="1" dirty="0">
                <a:solidFill>
                  <a:srgbClr val="1D2D68"/>
                </a:solidFill>
                <a:latin typeface="Segoe UI"/>
              </a:rPr>
              <a:t>• Dual-Modeling Methodology: </a:t>
            </a:r>
            <a:r>
              <a:rPr sz="2400" dirty="0">
                <a:solidFill>
                  <a:srgbClr val="1E293B"/>
                </a:solidFill>
                <a:latin typeface="Segoe UI"/>
              </a:rPr>
              <a:t>Compares an interpretable parametric Multiple Linear Regression (MLR) baseline against an advanced ensemble Random Forest Regression algorithm to predict property asking prices.</a:t>
            </a:r>
          </a:p>
          <a:p>
            <a:pPr>
              <a:spcAft>
                <a:spcPts val="1400"/>
              </a:spcAft>
            </a:pPr>
            <a:r>
              <a:rPr sz="2800" b="1" dirty="0">
                <a:solidFill>
                  <a:srgbClr val="1D2D68"/>
                </a:solidFill>
                <a:latin typeface="Segoe UI"/>
              </a:rPr>
              <a:t>• Natural Log Transformation (log(</a:t>
            </a:r>
            <a:r>
              <a:rPr sz="2800" b="1" dirty="0" err="1">
                <a:solidFill>
                  <a:srgbClr val="1D2D68"/>
                </a:solidFill>
                <a:latin typeface="Segoe UI"/>
              </a:rPr>
              <a:t>price_php</a:t>
            </a:r>
            <a:r>
              <a:rPr sz="2800" b="1" dirty="0">
                <a:solidFill>
                  <a:srgbClr val="1D2D68"/>
                </a:solidFill>
                <a:latin typeface="Segoe UI"/>
              </a:rPr>
              <a:t>)): </a:t>
            </a:r>
            <a:r>
              <a:rPr sz="2400" dirty="0">
                <a:solidFill>
                  <a:srgbClr val="1E293B"/>
                </a:solidFill>
                <a:latin typeface="Segoe UI"/>
              </a:rPr>
              <a:t>Empirical asking prices are severely right-skewed (Mean PHP 41.6M vs. Median PHP 12.3M). Applying a natural log transform stabilizes residual variance (heteroscedasticity), prevents negative price predictions, and allows coefficients to represent percentage changes in property value.</a:t>
            </a:r>
          </a:p>
          <a:p>
            <a:pPr>
              <a:spcAft>
                <a:spcPts val="1400"/>
              </a:spcAft>
            </a:pPr>
            <a:r>
              <a:rPr sz="2800" b="1" dirty="0">
                <a:solidFill>
                  <a:srgbClr val="1D2D68"/>
                </a:solidFill>
                <a:latin typeface="Segoe UI"/>
              </a:rPr>
              <a:t>• Multiple Linear Regression (MLR Baseline): </a:t>
            </a:r>
            <a:r>
              <a:rPr sz="2400" dirty="0">
                <a:solidFill>
                  <a:srgbClr val="1E293B"/>
                </a:solidFill>
                <a:latin typeface="Segoe UI"/>
              </a:rPr>
              <a:t>Serves as an interpretable econometric benchmark. Models log-asking price as a linear function of physical dimensions (sqm, bedrooms, bathrooms), property typology, and geographic regions.</a:t>
            </a:r>
          </a:p>
          <a:p>
            <a:pPr>
              <a:spcAft>
                <a:spcPts val="1400"/>
              </a:spcAft>
            </a:pPr>
            <a:r>
              <a:rPr sz="2800" b="1" dirty="0">
                <a:solidFill>
                  <a:srgbClr val="1D2D68"/>
                </a:solidFill>
                <a:latin typeface="Segoe UI"/>
              </a:rPr>
              <a:t>• Random Forest Regression (Ensemble of 200 Trees): </a:t>
            </a:r>
            <a:r>
              <a:rPr sz="2400" dirty="0">
                <a:solidFill>
                  <a:srgbClr val="1E293B"/>
                </a:solidFill>
                <a:latin typeface="Segoe UI"/>
              </a:rPr>
              <a:t>Builds 200 de-correlated decision trees (</a:t>
            </a:r>
            <a:r>
              <a:rPr sz="2400" dirty="0" err="1">
                <a:solidFill>
                  <a:srgbClr val="1E293B"/>
                </a:solidFill>
                <a:latin typeface="Segoe UI"/>
              </a:rPr>
              <a:t>ntree</a:t>
            </a:r>
            <a:r>
              <a:rPr sz="2400" dirty="0">
                <a:solidFill>
                  <a:srgbClr val="1E293B"/>
                </a:solidFill>
                <a:latin typeface="Segoe UI"/>
              </a:rPr>
              <a:t> = 200) to capture complex non-linear feature interactions (e.g., location premiums compounding exponentially with unit size) that linear equations cannot easily model.</a:t>
            </a:r>
          </a:p>
          <a:p>
            <a:pPr>
              <a:spcAft>
                <a:spcPts val="1400"/>
              </a:spcAft>
            </a:pPr>
            <a:r>
              <a:rPr sz="2800" b="1" dirty="0">
                <a:solidFill>
                  <a:srgbClr val="1D2D68"/>
                </a:solidFill>
                <a:latin typeface="Segoe UI"/>
              </a:rPr>
              <a:t>• Variable Importance Framework (%</a:t>
            </a:r>
            <a:r>
              <a:rPr sz="2800" b="1" dirty="0" err="1">
                <a:solidFill>
                  <a:srgbClr val="1D2D68"/>
                </a:solidFill>
                <a:latin typeface="Segoe UI"/>
              </a:rPr>
              <a:t>IncMSE</a:t>
            </a:r>
            <a:r>
              <a:rPr sz="2800" b="1" dirty="0">
                <a:solidFill>
                  <a:srgbClr val="1D2D68"/>
                </a:solidFill>
                <a:latin typeface="Segoe UI"/>
              </a:rPr>
              <a:t> &amp; Node Purity): </a:t>
            </a:r>
            <a:r>
              <a:rPr sz="2400" dirty="0">
                <a:solidFill>
                  <a:srgbClr val="1E293B"/>
                </a:solidFill>
                <a:latin typeface="Segoe UI"/>
              </a:rPr>
              <a:t>Permutation-based importance metrics quantify the exact loss in predictive accuracy when individual features are randomized, revealing true empirical market drivers.</a:t>
            </a:r>
          </a:p>
        </p:txBody>
      </p:sp>
      <p:sp>
        <p:nvSpPr>
          <p:cNvPr id="6" name="Freeform 4">
            <a:extLst>
              <a:ext uri="{FF2B5EF4-FFF2-40B4-BE49-F238E27FC236}">
                <a16:creationId xmlns:a16="http://schemas.microsoft.com/office/drawing/2014/main" id="{73694560-D261-E301-1F9E-2180CD5ED923}"/>
              </a:ext>
            </a:extLst>
          </p:cNvPr>
          <p:cNvSpPr/>
          <p:nvPr/>
        </p:nvSpPr>
        <p:spPr>
          <a:xfrm>
            <a:off x="1" y="1"/>
            <a:ext cx="3733800" cy="1714500"/>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8" name="Freeform 5">
            <a:extLst>
              <a:ext uri="{FF2B5EF4-FFF2-40B4-BE49-F238E27FC236}">
                <a16:creationId xmlns:a16="http://schemas.microsoft.com/office/drawing/2014/main" id="{A7C3236E-4A25-B18C-A331-19399944D9D9}"/>
              </a:ext>
            </a:extLst>
          </p:cNvPr>
          <p:cNvSpPr/>
          <p:nvPr/>
        </p:nvSpPr>
        <p:spPr>
          <a:xfrm>
            <a:off x="16351914" y="857213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3" name="TextBox 3"/>
          <p:cNvSpPr txBox="1"/>
          <p:nvPr/>
        </p:nvSpPr>
        <p:spPr>
          <a:xfrm>
            <a:off x="1024128" y="960120"/>
            <a:ext cx="16230600" cy="868680"/>
          </a:xfrm>
          <a:prstGeom prst="rect">
            <a:avLst/>
          </a:prstGeom>
        </p:spPr>
        <p:txBody>
          <a:bodyPr lIns="0" tIns="0" rIns="0" bIns="0" rtlCol="0" anchor="t">
            <a:spAutoFit/>
          </a:bodyPr>
          <a:lstStyle/>
          <a:p>
            <a:pPr algn="r">
              <a:lnSpc>
                <a:spcPts val="7200"/>
              </a:lnSpc>
              <a:defRPr sz="3600" b="1">
                <a:solidFill>
                  <a:srgbClr val="1D2D68"/>
                </a:solidFill>
                <a:latin typeface="Segoe UI"/>
              </a:defRPr>
            </a:pPr>
            <a:r>
              <a:rPr lang="en-US" sz="8000" b="1">
                <a:solidFill>
                  <a:srgbClr val="57306E"/>
                </a:solidFill>
                <a:latin typeface="Montserrat Bold"/>
                <a:ea typeface="Montserrat Bold"/>
                <a:cs typeface="Montserrat Bold"/>
                <a:sym typeface="Montserrat Bold"/>
              </a:rPr>
              <a:t>STATISTICAL ANALYSIS </a:t>
            </a:r>
          </a:p>
        </p:txBody>
      </p:sp>
      <p:sp>
        <p:nvSpPr>
          <p:cNvPr id="4" name="TextBox 3"/>
          <p:cNvSpPr txBox="1"/>
          <p:nvPr/>
        </p:nvSpPr>
        <p:spPr>
          <a:xfrm>
            <a:off x="1024128" y="1874519"/>
            <a:ext cx="9084410" cy="369332"/>
          </a:xfrm>
          <a:prstGeom prst="rect">
            <a:avLst/>
          </a:prstGeom>
          <a:noFill/>
        </p:spPr>
        <p:txBody>
          <a:bodyPr wrap="none">
            <a:spAutoFit/>
          </a:bodyPr>
          <a:lstStyle/>
          <a:p>
            <a:pPr>
              <a:defRPr sz="1800" b="1">
                <a:solidFill>
                  <a:srgbClr val="FFC72C"/>
                </a:solidFill>
                <a:latin typeface="Segoe UI"/>
              </a:defRPr>
            </a:pPr>
            <a:r>
              <a:rPr dirty="0">
                <a:solidFill>
                  <a:schemeClr val="tx2"/>
                </a:solidFill>
              </a:rPr>
              <a:t>Model Setup: 80/20 Train-Test Evaluation &amp; Parameter Specifications (Section 7.2)</a:t>
            </a:r>
          </a:p>
        </p:txBody>
      </p:sp>
      <p:sp>
        <p:nvSpPr>
          <p:cNvPr id="5" name="TextBox 4"/>
          <p:cNvSpPr txBox="1"/>
          <p:nvPr/>
        </p:nvSpPr>
        <p:spPr>
          <a:xfrm>
            <a:off x="1024128" y="2560320"/>
            <a:ext cx="16230600" cy="5919569"/>
          </a:xfrm>
          <a:prstGeom prst="rect">
            <a:avLst/>
          </a:prstGeom>
          <a:noFill/>
        </p:spPr>
        <p:txBody>
          <a:bodyPr wrap="square">
            <a:spAutoFit/>
          </a:bodyPr>
          <a:lstStyle/>
          <a:p>
            <a:pPr>
              <a:spcAft>
                <a:spcPts val="1400"/>
              </a:spcAft>
            </a:pPr>
            <a:r>
              <a:t>• Cleaned Modeling Cohort (N = 15,790): Extracted from listings_residential.csv, retaining active residential houses and condominiums with complete observations across price_php, sqm, bedrooms, bathrooms, and region.</a:t>
            </a:r>
          </a:p>
          <a:p>
            <a:pPr>
              <a:spcAft>
                <a:spcPts val="1400"/>
              </a:spcAft>
            </a:pPr>
            <a:r>
              <a:t>• Reproducible 80/20 Train-Test Partition (set.seed(42)): Partitioned using base R sample(): 80% Training Set (12,632 records) to fit model parameters; 20% Testing Set (3,158 records) held out strictly for unseen generalization testing to guarantee zero data leakage (James et al., 2021).</a:t>
            </a:r>
          </a:p>
          <a:p>
            <a:pPr>
              <a:spcAft>
                <a:spcPts val="1400"/>
              </a:spcAft>
            </a:pPr>
            <a:r>
              <a:rPr sz="2800" b="1" dirty="0">
                <a:solidFill>
                  <a:srgbClr val="1D2D68"/>
                </a:solidFill>
                <a:latin typeface="Segoe UI"/>
              </a:rPr>
              <a:t>• Econometric Target Variable: </a:t>
            </a:r>
            <a:r>
              <a:rPr sz="2400" dirty="0">
                <a:solidFill>
                  <a:srgbClr val="1E293B"/>
                </a:solidFill>
                <a:latin typeface="Segoe UI"/>
              </a:rPr>
              <a:t>Dependent Variable: </a:t>
            </a:r>
            <a:r>
              <a:rPr sz="2400" dirty="0" err="1">
                <a:solidFill>
                  <a:srgbClr val="1E293B"/>
                </a:solidFill>
                <a:latin typeface="Segoe UI"/>
              </a:rPr>
              <a:t>log_price</a:t>
            </a:r>
            <a:r>
              <a:rPr sz="2400" dirty="0">
                <a:solidFill>
                  <a:srgbClr val="1E293B"/>
                </a:solidFill>
                <a:latin typeface="Segoe UI"/>
              </a:rPr>
              <a:t> = log(</a:t>
            </a:r>
            <a:r>
              <a:rPr sz="2400" dirty="0" err="1">
                <a:solidFill>
                  <a:srgbClr val="1E293B"/>
                </a:solidFill>
                <a:latin typeface="Segoe UI"/>
              </a:rPr>
              <a:t>price_php</a:t>
            </a:r>
            <a:r>
              <a:rPr sz="2400" dirty="0">
                <a:solidFill>
                  <a:srgbClr val="1E293B"/>
                </a:solidFill>
                <a:latin typeface="Segoe UI"/>
              </a:rPr>
              <a:t>). Normalizes right-skewed prices and aligns with standard hedonic pricing literature (James et al., 2021).</a:t>
            </a:r>
          </a:p>
          <a:p>
            <a:pPr>
              <a:spcAft>
                <a:spcPts val="1400"/>
              </a:spcAft>
            </a:pPr>
            <a:r>
              <a:rPr sz="2800" b="1" dirty="0">
                <a:solidFill>
                  <a:srgbClr val="1D2D68"/>
                </a:solidFill>
                <a:latin typeface="Segoe UI"/>
              </a:rPr>
              <a:t>• Model Predictors Across Physical &amp; Spatial Tiers: </a:t>
            </a:r>
            <a:r>
              <a:rPr sz="2400" dirty="0">
                <a:solidFill>
                  <a:srgbClr val="1E293B"/>
                </a:solidFill>
                <a:latin typeface="Segoe UI"/>
              </a:rPr>
              <a:t>Formula: </a:t>
            </a:r>
            <a:r>
              <a:rPr sz="2400" dirty="0" err="1">
                <a:solidFill>
                  <a:srgbClr val="1E293B"/>
                </a:solidFill>
                <a:latin typeface="Segoe UI"/>
              </a:rPr>
              <a:t>log_price</a:t>
            </a:r>
            <a:r>
              <a:rPr sz="2400" dirty="0">
                <a:solidFill>
                  <a:srgbClr val="1E293B"/>
                </a:solidFill>
                <a:latin typeface="Segoe UI"/>
              </a:rPr>
              <a:t> ~ sqm + bedrooms + bathrooms + </a:t>
            </a:r>
            <a:r>
              <a:rPr sz="2400" dirty="0" err="1">
                <a:solidFill>
                  <a:srgbClr val="1E293B"/>
                </a:solidFill>
                <a:latin typeface="Segoe UI"/>
              </a:rPr>
              <a:t>property_type</a:t>
            </a:r>
            <a:r>
              <a:rPr sz="2400" dirty="0">
                <a:solidFill>
                  <a:srgbClr val="1E293B"/>
                </a:solidFill>
                <a:latin typeface="Segoe UI"/>
              </a:rPr>
              <a:t> + region. Controls simultaneously for structural dimensions and macro-economic regional land premiums.</a:t>
            </a:r>
          </a:p>
          <a:p>
            <a:pPr>
              <a:spcAft>
                <a:spcPts val="1400"/>
              </a:spcAft>
            </a:pPr>
            <a:r>
              <a:rPr sz="2800" b="1" dirty="0">
                <a:solidFill>
                  <a:srgbClr val="1D2D68"/>
                </a:solidFill>
                <a:latin typeface="Segoe UI"/>
              </a:rPr>
              <a:t>• Model Evaluation Criteria: </a:t>
            </a:r>
            <a:r>
              <a:rPr sz="2400" dirty="0">
                <a:solidFill>
                  <a:srgbClr val="1E293B"/>
                </a:solidFill>
                <a:latin typeface="Segoe UI"/>
              </a:rPr>
              <a:t>Models are evaluated across three standard statistical benchmarks: Coefficient of Determination (R²), Root Mean Squared Error (RMSE), and Mean Absolute Error (MAE) computed directly on unseen test data.</a:t>
            </a:r>
          </a:p>
        </p:txBody>
      </p:sp>
      <p:sp>
        <p:nvSpPr>
          <p:cNvPr id="6" name="Freeform 4">
            <a:extLst>
              <a:ext uri="{FF2B5EF4-FFF2-40B4-BE49-F238E27FC236}">
                <a16:creationId xmlns:a16="http://schemas.microsoft.com/office/drawing/2014/main" id="{18AF7E9C-535D-037E-0E7A-57FE8791EBF7}"/>
              </a:ext>
            </a:extLst>
          </p:cNvPr>
          <p:cNvSpPr/>
          <p:nvPr/>
        </p:nvSpPr>
        <p:spPr>
          <a:xfrm>
            <a:off x="1" y="1"/>
            <a:ext cx="3733800" cy="1714500"/>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8" name="Freeform 5">
            <a:extLst>
              <a:ext uri="{FF2B5EF4-FFF2-40B4-BE49-F238E27FC236}">
                <a16:creationId xmlns:a16="http://schemas.microsoft.com/office/drawing/2014/main" id="{49BC6346-2953-C1D8-F3D1-04DD7913B3F3}"/>
              </a:ext>
            </a:extLst>
          </p:cNvPr>
          <p:cNvSpPr/>
          <p:nvPr/>
        </p:nvSpPr>
        <p:spPr>
          <a:xfrm>
            <a:off x="16351914" y="857213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flipV="1">
            <a:off x="1028700" y="1950000"/>
            <a:ext cx="16230600"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000000"/>
            <a:ext cx="16230600" cy="900000"/>
          </a:xfrm>
          <a:prstGeom prst="rect">
            <a:avLst/>
          </a:prstGeom>
        </p:spPr>
        <p:txBody>
          <a:bodyPr lIns="0" tIns="0" rIns="0" bIns="0" rtlCol="0" anchor="t">
            <a:spAutoFit/>
          </a:bodyPr>
          <a:lstStyle/>
          <a:p>
            <a:pPr algn="r">
              <a:lnSpc>
                <a:spcPts val="7200"/>
              </a:lnSpc>
            </a:pPr>
            <a:r>
              <a:rPr lang="en-US" sz="8000" b="1">
                <a:solidFill>
                  <a:srgbClr val="57306E"/>
                </a:solidFill>
                <a:latin typeface="Montserrat Bold"/>
                <a:ea typeface="Montserrat Bold"/>
                <a:cs typeface="Montserrat Bold"/>
                <a:sym typeface="Montserrat Bold"/>
              </a:rPr>
              <a:t>STATISTICAL ANALYSIS </a:t>
            </a:r>
          </a:p>
        </p:txBody>
      </p:sp>
      <p:sp>
        <p:nvSpPr>
          <p:cNvPr id="4" name="Freeform 4"/>
          <p:cNvSpPr/>
          <p:nvPr/>
        </p:nvSpPr>
        <p:spPr>
          <a:xfrm>
            <a:off x="1" y="1"/>
            <a:ext cx="3733800" cy="1714500"/>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a:off x="16351914" y="857213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dirty="0"/>
          </a:p>
        </p:txBody>
      </p:sp>
      <p:sp>
        <p:nvSpPr>
          <p:cNvPr id="8" name="TextBox 8"/>
          <p:cNvSpPr txBox="1"/>
          <p:nvPr/>
        </p:nvSpPr>
        <p:spPr>
          <a:xfrm>
            <a:off x="1028700" y="2050000"/>
            <a:ext cx="16230600" cy="500000"/>
          </a:xfrm>
          <a:prstGeom prst="rect">
            <a:avLst/>
          </a:prstGeom>
        </p:spPr>
        <p:txBody>
          <a:bodyPr lIns="0" tIns="0" rIns="0" bIns="0" rtlCol="0" anchor="t">
            <a:spAutoFit/>
          </a:bodyPr>
          <a:lstStyle/>
          <a:p>
            <a:pPr algn="r">
              <a:lnSpc>
                <a:spcPts val="4153"/>
              </a:lnSpc>
              <a:defRPr sz="2800" b="1">
                <a:solidFill>
                  <a:srgbClr val="57306E"/>
                </a:solidFill>
                <a:latin typeface="Montserrat"/>
              </a:defRPr>
            </a:pPr>
            <a:r>
              <a:t>Results: Model Evaluation &amp; Parametric Coefficients (Paper Section 7.4)</a:t>
            </a:r>
          </a:p>
        </p:txBody>
      </p:sp>
      <p:graphicFrame>
        <p:nvGraphicFramePr>
          <p:cNvPr id="9" name="Table 8"/>
          <p:cNvGraphicFramePr>
            <a:graphicFrameLocks noGrp="1"/>
          </p:cNvGraphicFramePr>
          <p:nvPr/>
        </p:nvGraphicFramePr>
        <p:xfrm>
          <a:off x="1028700" y="2600000"/>
          <a:ext cx="16230600" cy="6800000"/>
        </p:xfrm>
        <a:graphic>
          <a:graphicData uri="http://schemas.openxmlformats.org/drawingml/2006/table">
            <a:tbl>
              <a:tblPr firstRow="1" bandRow="1">
                <a:tableStyleId>{5C22544A-7EE6-4342-B048-85BDC9FD1C3A}</a:tableStyleId>
              </a:tblPr>
              <a:tblGrid>
                <a:gridCol w="4544568">
                  <a:extLst>
                    <a:ext uri="{9D8B030D-6E8A-4147-A177-3AD203B41FA5}">
                      <a16:colId xmlns:a16="http://schemas.microsoft.com/office/drawing/2014/main" val="20000"/>
                    </a:ext>
                  </a:extLst>
                </a:gridCol>
                <a:gridCol w="3570732">
                  <a:extLst>
                    <a:ext uri="{9D8B030D-6E8A-4147-A177-3AD203B41FA5}">
                      <a16:colId xmlns:a16="http://schemas.microsoft.com/office/drawing/2014/main" val="20001"/>
                    </a:ext>
                  </a:extLst>
                </a:gridCol>
                <a:gridCol w="8115300">
                  <a:extLst>
                    <a:ext uri="{9D8B030D-6E8A-4147-A177-3AD203B41FA5}">
                      <a16:colId xmlns:a16="http://schemas.microsoft.com/office/drawing/2014/main" val="20002"/>
                    </a:ext>
                  </a:extLst>
                </a:gridCol>
              </a:tblGrid>
              <a:tr h="680000">
                <a:tc>
                  <a:txBody>
                    <a:bodyPr/>
                    <a:lstStyle/>
                    <a:p>
                      <a:pPr>
                        <a:defRPr sz="1700" b="1">
                          <a:solidFill>
                            <a:srgbClr val="FFFFFF"/>
                          </a:solidFill>
                          <a:latin typeface="Montserrat"/>
                        </a:defRPr>
                      </a:pPr>
                      <a:r>
                        <a:t>Measure / Coefficient</a:t>
                      </a:r>
                    </a:p>
                  </a:txBody>
                  <a:tcPr marL="127000" marR="127000" marT="76200" marB="76200">
                    <a:solidFill>
                      <a:srgbClr val="57306E"/>
                    </a:solidFill>
                  </a:tcPr>
                </a:tc>
                <a:tc>
                  <a:txBody>
                    <a:bodyPr/>
                    <a:lstStyle/>
                    <a:p>
                      <a:pPr>
                        <a:defRPr sz="1700" b="1">
                          <a:solidFill>
                            <a:srgbClr val="FFFFFF"/>
                          </a:solidFill>
                          <a:latin typeface="Montserrat"/>
                        </a:defRPr>
                      </a:pPr>
                      <a:r>
                        <a:t>Value</a:t>
                      </a:r>
                    </a:p>
                  </a:txBody>
                  <a:tcPr marL="127000" marR="127000" marT="76200" marB="76200">
                    <a:solidFill>
                      <a:srgbClr val="57306E"/>
                    </a:solidFill>
                  </a:tcPr>
                </a:tc>
                <a:tc>
                  <a:txBody>
                    <a:bodyPr/>
                    <a:lstStyle/>
                    <a:p>
                      <a:pPr>
                        <a:defRPr sz="1700" b="1">
                          <a:solidFill>
                            <a:srgbClr val="FFFFFF"/>
                          </a:solidFill>
                          <a:latin typeface="Montserrat"/>
                        </a:defRPr>
                      </a:pPr>
                      <a:r>
                        <a:t>Interpretation (Directly from Project Paper)</a:t>
                      </a:r>
                    </a:p>
                  </a:txBody>
                  <a:tcPr marL="127000" marR="127000" marT="76200" marB="76200">
                    <a:solidFill>
                      <a:srgbClr val="57306E"/>
                    </a:solidFill>
                  </a:tcPr>
                </a:tc>
                <a:extLst>
                  <a:ext uri="{0D108BD9-81ED-4DB2-BD59-A6C34878D82A}">
                    <a16:rowId xmlns:a16="http://schemas.microsoft.com/office/drawing/2014/main" val="10000"/>
                  </a:ext>
                </a:extLst>
              </a:tr>
              <a:tr h="680000">
                <a:tc>
                  <a:txBody>
                    <a:bodyPr/>
                    <a:lstStyle/>
                    <a:p>
                      <a:pPr>
                        <a:defRPr sz="1500" b="1">
                          <a:solidFill>
                            <a:srgbClr val="281E2D"/>
                          </a:solidFill>
                          <a:latin typeface="Montserrat"/>
                        </a:defRPr>
                      </a:pPr>
                      <a:r>
                        <a:t>Random Forest R-squared</a:t>
                      </a:r>
                    </a:p>
                  </a:txBody>
                  <a:tcPr marL="127000" marR="127000" marT="76200" marB="76200">
                    <a:solidFill>
                      <a:srgbClr val="F0EAF5"/>
                    </a:solidFill>
                  </a:tcPr>
                </a:tc>
                <a:tc>
                  <a:txBody>
                    <a:bodyPr/>
                    <a:lstStyle/>
                    <a:p>
                      <a:pPr>
                        <a:defRPr sz="1500" b="1">
                          <a:solidFill>
                            <a:srgbClr val="1B5E20"/>
                          </a:solidFill>
                          <a:latin typeface="Montserrat"/>
                        </a:defRPr>
                      </a:pPr>
                      <a:r>
                        <a:t>0.7523 (75.2%)</a:t>
                      </a:r>
                    </a:p>
                  </a:txBody>
                  <a:tcPr marL="127000" marR="127000" marT="76200" marB="76200">
                    <a:solidFill>
                      <a:srgbClr val="F0EAF5"/>
                    </a:solidFill>
                  </a:tcPr>
                </a:tc>
                <a:tc>
                  <a:txBody>
                    <a:bodyPr/>
                    <a:lstStyle/>
                    <a:p>
                      <a:pPr>
                        <a:defRPr sz="1500" b="1">
                          <a:solidFill>
                            <a:srgbClr val="281E2D"/>
                          </a:solidFill>
                          <a:latin typeface="Montserrat"/>
                        </a:defRPr>
                      </a:pPr>
                      <a:r>
                        <a:t>Best model; explains 75.2% of price variation on unseen test data.</a:t>
                      </a:r>
                    </a:p>
                  </a:txBody>
                  <a:tcPr marL="127000" marR="127000" marT="76200" marB="76200">
                    <a:solidFill>
                      <a:srgbClr val="F0EAF5"/>
                    </a:solidFill>
                  </a:tcPr>
                </a:tc>
                <a:extLst>
                  <a:ext uri="{0D108BD9-81ED-4DB2-BD59-A6C34878D82A}">
                    <a16:rowId xmlns:a16="http://schemas.microsoft.com/office/drawing/2014/main" val="10001"/>
                  </a:ext>
                </a:extLst>
              </a:tr>
              <a:tr h="680000">
                <a:tc>
                  <a:txBody>
                    <a:bodyPr/>
                    <a:lstStyle/>
                    <a:p>
                      <a:pPr>
                        <a:defRPr sz="1500" b="1">
                          <a:solidFill>
                            <a:srgbClr val="281E2D"/>
                          </a:solidFill>
                          <a:latin typeface="Montserrat"/>
                        </a:defRPr>
                      </a:pPr>
                      <a:r>
                        <a:t>MLR Test R-squared</a:t>
                      </a:r>
                    </a:p>
                  </a:txBody>
                  <a:tcPr marL="127000" marR="127000" marT="76200" marB="76200">
                    <a:solidFill>
                      <a:srgbClr val="FFFFFF"/>
                    </a:solidFill>
                  </a:tcPr>
                </a:tc>
                <a:tc>
                  <a:txBody>
                    <a:bodyPr/>
                    <a:lstStyle/>
                    <a:p>
                      <a:pPr>
                        <a:defRPr sz="1500" b="1">
                          <a:solidFill>
                            <a:srgbClr val="281E2D"/>
                          </a:solidFill>
                          <a:latin typeface="Montserrat"/>
                        </a:defRPr>
                      </a:pPr>
                      <a:r>
                        <a:t>0.5878 (58.8%)</a:t>
                      </a:r>
                    </a:p>
                  </a:txBody>
                  <a:tcPr marL="127000" marR="127000" marT="76200" marB="76200">
                    <a:solidFill>
                      <a:srgbClr val="FFFFFF"/>
                    </a:solidFill>
                  </a:tcPr>
                </a:tc>
                <a:tc>
                  <a:txBody>
                    <a:bodyPr/>
                    <a:lstStyle/>
                    <a:p>
                      <a:pPr>
                        <a:defRPr sz="1500" b="0">
                          <a:solidFill>
                            <a:srgbClr val="281E2D"/>
                          </a:solidFill>
                          <a:latin typeface="Montserrat"/>
                        </a:defRPr>
                      </a:pPr>
                      <a:r>
                        <a:t>Baseline linear model explains 58.8% of log-price variance.</a:t>
                      </a:r>
                    </a:p>
                  </a:txBody>
                  <a:tcPr marL="127000" marR="127000" marT="76200" marB="76200">
                    <a:solidFill>
                      <a:srgbClr val="FFFFFF"/>
                    </a:solidFill>
                  </a:tcPr>
                </a:tc>
                <a:extLst>
                  <a:ext uri="{0D108BD9-81ED-4DB2-BD59-A6C34878D82A}">
                    <a16:rowId xmlns:a16="http://schemas.microsoft.com/office/drawing/2014/main" val="10002"/>
                  </a:ext>
                </a:extLst>
              </a:tr>
              <a:tr h="680000">
                <a:tc>
                  <a:txBody>
                    <a:bodyPr/>
                    <a:lstStyle/>
                    <a:p>
                      <a:pPr>
                        <a:defRPr sz="1500" b="1">
                          <a:solidFill>
                            <a:srgbClr val="281E2D"/>
                          </a:solidFill>
                          <a:latin typeface="Montserrat"/>
                        </a:defRPr>
                      </a:pPr>
                      <a:r>
                        <a:t>Random Forest RMSE</a:t>
                      </a:r>
                    </a:p>
                  </a:txBody>
                  <a:tcPr marL="127000" marR="127000" marT="76200" marB="76200">
                    <a:solidFill>
                      <a:srgbClr val="F0EAF5"/>
                    </a:solidFill>
                  </a:tcPr>
                </a:tc>
                <a:tc>
                  <a:txBody>
                    <a:bodyPr/>
                    <a:lstStyle/>
                    <a:p>
                      <a:pPr>
                        <a:defRPr sz="1500" b="1">
                          <a:solidFill>
                            <a:srgbClr val="1B5E20"/>
                          </a:solidFill>
                          <a:latin typeface="Montserrat"/>
                        </a:defRPr>
                      </a:pPr>
                      <a:r>
                        <a:t>0.5693</a:t>
                      </a:r>
                    </a:p>
                  </a:txBody>
                  <a:tcPr marL="127000" marR="127000" marT="76200" marB="76200">
                    <a:solidFill>
                      <a:srgbClr val="F0EAF5"/>
                    </a:solidFill>
                  </a:tcPr>
                </a:tc>
                <a:tc>
                  <a:txBody>
                    <a:bodyPr/>
                    <a:lstStyle/>
                    <a:p>
                      <a:pPr>
                        <a:defRPr sz="1500" b="1">
                          <a:solidFill>
                            <a:srgbClr val="281E2D"/>
                          </a:solidFill>
                          <a:latin typeface="Montserrat"/>
                        </a:defRPr>
                      </a:pPr>
                      <a:r>
                        <a:t>Low prediction error on test set, outperforming MLR (0.7345).</a:t>
                      </a:r>
                    </a:p>
                  </a:txBody>
                  <a:tcPr marL="127000" marR="127000" marT="76200" marB="76200">
                    <a:solidFill>
                      <a:srgbClr val="F0EAF5"/>
                    </a:solidFill>
                  </a:tcPr>
                </a:tc>
                <a:extLst>
                  <a:ext uri="{0D108BD9-81ED-4DB2-BD59-A6C34878D82A}">
                    <a16:rowId xmlns:a16="http://schemas.microsoft.com/office/drawing/2014/main" val="10003"/>
                  </a:ext>
                </a:extLst>
              </a:tr>
              <a:tr h="680000">
                <a:tc>
                  <a:txBody>
                    <a:bodyPr/>
                    <a:lstStyle/>
                    <a:p>
                      <a:pPr>
                        <a:defRPr sz="1500" b="1">
                          <a:solidFill>
                            <a:srgbClr val="281E2D"/>
                          </a:solidFill>
                          <a:latin typeface="Montserrat"/>
                        </a:defRPr>
                      </a:pPr>
                      <a:r>
                        <a:t>Random Forest MAE</a:t>
                      </a:r>
                    </a:p>
                  </a:txBody>
                  <a:tcPr marL="127000" marR="127000" marT="76200" marB="76200">
                    <a:solidFill>
                      <a:srgbClr val="FFFFFF"/>
                    </a:solidFill>
                  </a:tcPr>
                </a:tc>
                <a:tc>
                  <a:txBody>
                    <a:bodyPr/>
                    <a:lstStyle/>
                    <a:p>
                      <a:pPr>
                        <a:defRPr sz="1500" b="1">
                          <a:solidFill>
                            <a:srgbClr val="281E2D"/>
                          </a:solidFill>
                          <a:latin typeface="Montserrat"/>
                        </a:defRPr>
                      </a:pPr>
                      <a:r>
                        <a:t>0.4172</a:t>
                      </a:r>
                    </a:p>
                  </a:txBody>
                  <a:tcPr marL="127000" marR="127000" marT="76200" marB="76200">
                    <a:solidFill>
                      <a:srgbClr val="FFFFFF"/>
                    </a:solidFill>
                  </a:tcPr>
                </a:tc>
                <a:tc>
                  <a:txBody>
                    <a:bodyPr/>
                    <a:lstStyle/>
                    <a:p>
                      <a:pPr>
                        <a:defRPr sz="1500" b="0">
                          <a:solidFill>
                            <a:srgbClr val="281E2D"/>
                          </a:solidFill>
                          <a:latin typeface="Montserrat"/>
                        </a:defRPr>
                      </a:pPr>
                      <a:r>
                        <a:t>Average absolute error of predictions on the log scale.</a:t>
                      </a:r>
                    </a:p>
                  </a:txBody>
                  <a:tcPr marL="127000" marR="127000" marT="76200" marB="76200">
                    <a:solidFill>
                      <a:srgbClr val="FFFFFF"/>
                    </a:solidFill>
                  </a:tcPr>
                </a:tc>
                <a:extLst>
                  <a:ext uri="{0D108BD9-81ED-4DB2-BD59-A6C34878D82A}">
                    <a16:rowId xmlns:a16="http://schemas.microsoft.com/office/drawing/2014/main" val="10004"/>
                  </a:ext>
                </a:extLst>
              </a:tr>
              <a:tr h="680000">
                <a:tc>
                  <a:txBody>
                    <a:bodyPr/>
                    <a:lstStyle/>
                    <a:p>
                      <a:pPr>
                        <a:defRPr sz="1500" b="1">
                          <a:solidFill>
                            <a:srgbClr val="281E2D"/>
                          </a:solidFill>
                          <a:latin typeface="Montserrat"/>
                        </a:defRPr>
                      </a:pPr>
                      <a:r>
                        <a:t>Intercept (MLR)</a:t>
                      </a:r>
                    </a:p>
                  </a:txBody>
                  <a:tcPr marL="127000" marR="127000" marT="76200" marB="76200">
                    <a:solidFill>
                      <a:srgbClr val="F0EAF5"/>
                    </a:solidFill>
                  </a:tcPr>
                </a:tc>
                <a:tc>
                  <a:txBody>
                    <a:bodyPr/>
                    <a:lstStyle/>
                    <a:p>
                      <a:pPr>
                        <a:defRPr sz="1500" b="1">
                          <a:solidFill>
                            <a:srgbClr val="281E2D"/>
                          </a:solidFill>
                          <a:latin typeface="Montserrat"/>
                        </a:defRPr>
                      </a:pPr>
                      <a:r>
                        <a:t>15.06 (p &lt; 0.001)</a:t>
                      </a:r>
                    </a:p>
                  </a:txBody>
                  <a:tcPr marL="127000" marR="127000" marT="76200" marB="76200">
                    <a:solidFill>
                      <a:srgbClr val="F0EAF5"/>
                    </a:solidFill>
                  </a:tcPr>
                </a:tc>
                <a:tc>
                  <a:txBody>
                    <a:bodyPr/>
                    <a:lstStyle/>
                    <a:p>
                      <a:pPr>
                        <a:defRPr sz="1500" b="0">
                          <a:solidFill>
                            <a:srgbClr val="281E2D"/>
                          </a:solidFill>
                          <a:latin typeface="Montserrat"/>
                        </a:defRPr>
                      </a:pPr>
                      <a:r>
                        <a:t>Baseline constant for log asking price.</a:t>
                      </a:r>
                    </a:p>
                  </a:txBody>
                  <a:tcPr marL="127000" marR="127000" marT="76200" marB="76200">
                    <a:solidFill>
                      <a:srgbClr val="F0EAF5"/>
                    </a:solidFill>
                  </a:tcPr>
                </a:tc>
                <a:extLst>
                  <a:ext uri="{0D108BD9-81ED-4DB2-BD59-A6C34878D82A}">
                    <a16:rowId xmlns:a16="http://schemas.microsoft.com/office/drawing/2014/main" val="10005"/>
                  </a:ext>
                </a:extLst>
              </a:tr>
              <a:tr h="680000">
                <a:tc>
                  <a:txBody>
                    <a:bodyPr/>
                    <a:lstStyle/>
                    <a:p>
                      <a:pPr>
                        <a:defRPr sz="1500" b="1">
                          <a:solidFill>
                            <a:srgbClr val="281E2D"/>
                          </a:solidFill>
                          <a:latin typeface="Montserrat"/>
                        </a:defRPr>
                      </a:pPr>
                      <a:r>
                        <a:t>sqm / Floor Area (MLR)</a:t>
                      </a:r>
                    </a:p>
                  </a:txBody>
                  <a:tcPr marL="127000" marR="127000" marT="76200" marB="76200">
                    <a:solidFill>
                      <a:srgbClr val="FFFFFF"/>
                    </a:solidFill>
                  </a:tcPr>
                </a:tc>
                <a:tc>
                  <a:txBody>
                    <a:bodyPr/>
                    <a:lstStyle/>
                    <a:p>
                      <a:pPr>
                        <a:defRPr sz="1500" b="1">
                          <a:solidFill>
                            <a:srgbClr val="281E2D"/>
                          </a:solidFill>
                          <a:latin typeface="Montserrat"/>
                        </a:defRPr>
                      </a:pPr>
                      <a:r>
                        <a:t>+0.000152 (p &lt; 0.001)</a:t>
                      </a:r>
                    </a:p>
                  </a:txBody>
                  <a:tcPr marL="127000" marR="127000" marT="76200" marB="76200">
                    <a:solidFill>
                      <a:srgbClr val="FFFFFF"/>
                    </a:solidFill>
                  </a:tcPr>
                </a:tc>
                <a:tc>
                  <a:txBody>
                    <a:bodyPr/>
                    <a:lstStyle/>
                    <a:p>
                      <a:pPr>
                        <a:defRPr sz="1500" b="0">
                          <a:solidFill>
                            <a:srgbClr val="281E2D"/>
                          </a:solidFill>
                          <a:latin typeface="Montserrat"/>
                        </a:defRPr>
                      </a:pPr>
                      <a:r>
                        <a:t>Positive predictor; asking price increases with floor area.</a:t>
                      </a:r>
                    </a:p>
                  </a:txBody>
                  <a:tcPr marL="127000" marR="127000" marT="76200" marB="76200">
                    <a:solidFill>
                      <a:srgbClr val="FFFFFF"/>
                    </a:solidFill>
                  </a:tcPr>
                </a:tc>
                <a:extLst>
                  <a:ext uri="{0D108BD9-81ED-4DB2-BD59-A6C34878D82A}">
                    <a16:rowId xmlns:a16="http://schemas.microsoft.com/office/drawing/2014/main" val="10006"/>
                  </a:ext>
                </a:extLst>
              </a:tr>
              <a:tr h="680000">
                <a:tc>
                  <a:txBody>
                    <a:bodyPr/>
                    <a:lstStyle/>
                    <a:p>
                      <a:pPr>
                        <a:defRPr sz="1500" b="1">
                          <a:solidFill>
                            <a:srgbClr val="281E2D"/>
                          </a:solidFill>
                          <a:latin typeface="Montserrat"/>
                        </a:defRPr>
                      </a:pPr>
                      <a:r>
                        <a:t>bedrooms (MLR)</a:t>
                      </a:r>
                    </a:p>
                  </a:txBody>
                  <a:tcPr marL="127000" marR="127000" marT="76200" marB="76200">
                    <a:solidFill>
                      <a:srgbClr val="F0EAF5"/>
                    </a:solidFill>
                  </a:tcPr>
                </a:tc>
                <a:tc>
                  <a:txBody>
                    <a:bodyPr/>
                    <a:lstStyle/>
                    <a:p>
                      <a:pPr>
                        <a:defRPr sz="1500" b="1">
                          <a:solidFill>
                            <a:srgbClr val="281E2D"/>
                          </a:solidFill>
                          <a:latin typeface="Montserrat"/>
                        </a:defRPr>
                      </a:pPr>
                      <a:r>
                        <a:t>+0.0871 (p &lt; 0.001)</a:t>
                      </a:r>
                    </a:p>
                  </a:txBody>
                  <a:tcPr marL="127000" marR="127000" marT="76200" marB="76200">
                    <a:solidFill>
                      <a:srgbClr val="F0EAF5"/>
                    </a:solidFill>
                  </a:tcPr>
                </a:tc>
                <a:tc>
                  <a:txBody>
                    <a:bodyPr/>
                    <a:lstStyle/>
                    <a:p>
                      <a:r>
                        <a:t>Each additional bedroom adds approximately 8.71% (+9.10% exact exponentiated: exp(0.0871) - 1) to asking price.</a:t>
                      </a:r>
                    </a:p>
                  </a:txBody>
                  <a:tcPr marL="127000" marR="127000" marT="76200" marB="76200">
                    <a:solidFill>
                      <a:srgbClr val="F0EAF5"/>
                    </a:solidFill>
                  </a:tcPr>
                </a:tc>
                <a:extLst>
                  <a:ext uri="{0D108BD9-81ED-4DB2-BD59-A6C34878D82A}">
                    <a16:rowId xmlns:a16="http://schemas.microsoft.com/office/drawing/2014/main" val="10007"/>
                  </a:ext>
                </a:extLst>
              </a:tr>
              <a:tr h="680000">
                <a:tc>
                  <a:txBody>
                    <a:bodyPr/>
                    <a:lstStyle/>
                    <a:p>
                      <a:pPr>
                        <a:defRPr sz="1500" b="1">
                          <a:solidFill>
                            <a:srgbClr val="281E2D"/>
                          </a:solidFill>
                          <a:latin typeface="Montserrat"/>
                        </a:defRPr>
                      </a:pPr>
                      <a:r>
                        <a:t>bathrooms (MLR)</a:t>
                      </a:r>
                    </a:p>
                  </a:txBody>
                  <a:tcPr marL="127000" marR="127000" marT="76200" marB="76200">
                    <a:solidFill>
                      <a:srgbClr val="FFFFFF"/>
                    </a:solidFill>
                  </a:tcPr>
                </a:tc>
                <a:tc>
                  <a:txBody>
                    <a:bodyPr/>
                    <a:lstStyle/>
                    <a:p>
                      <a:pPr>
                        <a:defRPr sz="1500" b="1">
                          <a:solidFill>
                            <a:srgbClr val="6A1B9A"/>
                          </a:solidFill>
                          <a:latin typeface="Montserrat"/>
                        </a:defRPr>
                      </a:pPr>
                      <a:r>
                        <a:t>+0.4983 (p &lt; 0.001)</a:t>
                      </a:r>
                    </a:p>
                  </a:txBody>
                  <a:tcPr marL="127000" marR="127000" marT="76200" marB="76200">
                    <a:solidFill>
                      <a:srgbClr val="FFFFFF"/>
                    </a:solidFill>
                  </a:tcPr>
                </a:tc>
                <a:tc>
                  <a:txBody>
                    <a:bodyPr/>
                    <a:lstStyle/>
                    <a:p>
                      <a:pPr>
                        <a:defRPr sz="1500" b="0">
                          <a:solidFill>
                            <a:srgbClr val="281E2D"/>
                          </a:solidFill>
                          <a:latin typeface="Montserrat"/>
                        </a:defRPr>
                      </a:pPr>
                      <a:r>
                        <a:t>Each additional bathroom adds approximately 49.8% to price (luxury signal).</a:t>
                      </a:r>
                    </a:p>
                  </a:txBody>
                  <a:tcPr marL="127000" marR="127000" marT="76200" marB="76200">
                    <a:solidFill>
                      <a:srgbClr val="FFFFFF"/>
                    </a:solidFill>
                  </a:tcPr>
                </a:tc>
                <a:extLst>
                  <a:ext uri="{0D108BD9-81ED-4DB2-BD59-A6C34878D82A}">
                    <a16:rowId xmlns:a16="http://schemas.microsoft.com/office/drawing/2014/main" val="10008"/>
                  </a:ext>
                </a:extLst>
              </a:tr>
              <a:tr h="680000">
                <a:tc>
                  <a:txBody>
                    <a:bodyPr/>
                    <a:lstStyle/>
                    <a:p>
                      <a:pPr>
                        <a:defRPr sz="1500" b="1">
                          <a:solidFill>
                            <a:srgbClr val="281E2D"/>
                          </a:solidFill>
                          <a:latin typeface="Montserrat"/>
                        </a:defRPr>
                      </a:pPr>
                      <a:r>
                        <a:t>property_type: house (MLR)</a:t>
                      </a:r>
                    </a:p>
                  </a:txBody>
                  <a:tcPr marL="127000" marR="127000" marT="76200" marB="76200">
                    <a:solidFill>
                      <a:srgbClr val="F0EAF5"/>
                    </a:solidFill>
                  </a:tcPr>
                </a:tc>
                <a:tc>
                  <a:txBody>
                    <a:bodyPr/>
                    <a:lstStyle/>
                    <a:p>
                      <a:pPr>
                        <a:defRPr sz="1500" b="1">
                          <a:solidFill>
                            <a:srgbClr val="6A1B9A"/>
                          </a:solidFill>
                          <a:latin typeface="Montserrat"/>
                        </a:defRPr>
                      </a:pPr>
                      <a:r>
                        <a:t>-0.5666 (p &lt; 0.001)</a:t>
                      </a:r>
                    </a:p>
                  </a:txBody>
                  <a:tcPr marL="127000" marR="127000" marT="76200" marB="76200">
                    <a:solidFill>
                      <a:srgbClr val="F0EAF5"/>
                    </a:solidFill>
                  </a:tcPr>
                </a:tc>
                <a:tc>
                  <a:txBody>
                    <a:bodyPr/>
                    <a:lstStyle/>
                    <a:p>
                      <a:pPr>
                        <a:defRPr sz="1500" b="0">
                          <a:solidFill>
                            <a:srgbClr val="281E2D"/>
                          </a:solidFill>
                          <a:latin typeface="Montserrat"/>
                        </a:defRPr>
                      </a:pPr>
                      <a:r>
                        <a:rPr dirty="0"/>
                        <a:t>Houses price lower than condos of same size due to prime urban condo locations.</a:t>
                      </a:r>
                    </a:p>
                  </a:txBody>
                  <a:tcPr marL="127000" marR="127000" marT="76200" marB="76200">
                    <a:solidFill>
                      <a:srgbClr val="F0EAF5"/>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3" name="TextBox 3"/>
          <p:cNvSpPr txBox="1"/>
          <p:nvPr/>
        </p:nvSpPr>
        <p:spPr>
          <a:xfrm>
            <a:off x="1024128" y="960120"/>
            <a:ext cx="16230600" cy="868680"/>
          </a:xfrm>
          <a:prstGeom prst="rect">
            <a:avLst/>
          </a:prstGeom>
        </p:spPr>
        <p:txBody>
          <a:bodyPr lIns="0" tIns="0" rIns="0" bIns="0" rtlCol="0" anchor="t">
            <a:spAutoFit/>
          </a:bodyPr>
          <a:lstStyle/>
          <a:p>
            <a:pPr algn="r">
              <a:lnSpc>
                <a:spcPts val="7200"/>
              </a:lnSpc>
              <a:defRPr sz="3600" b="1">
                <a:solidFill>
                  <a:srgbClr val="1D2D68"/>
                </a:solidFill>
                <a:latin typeface="Segoe UI"/>
              </a:defRPr>
            </a:pPr>
            <a:r>
              <a:rPr lang="en-US" sz="8000" b="1">
                <a:solidFill>
                  <a:srgbClr val="57306E"/>
                </a:solidFill>
                <a:latin typeface="Montserrat Bold"/>
                <a:ea typeface="Montserrat Bold"/>
                <a:cs typeface="Montserrat Bold"/>
                <a:sym typeface="Montserrat Bold"/>
              </a:rPr>
              <a:t>STATISTICAL ANALYSIS </a:t>
            </a:r>
          </a:p>
        </p:txBody>
      </p:sp>
      <p:sp>
        <p:nvSpPr>
          <p:cNvPr id="4" name="TextBox 3"/>
          <p:cNvSpPr txBox="1"/>
          <p:nvPr/>
        </p:nvSpPr>
        <p:spPr>
          <a:xfrm>
            <a:off x="1024128" y="2076689"/>
            <a:ext cx="8750472" cy="369332"/>
          </a:xfrm>
          <a:prstGeom prst="rect">
            <a:avLst/>
          </a:prstGeom>
          <a:noFill/>
        </p:spPr>
        <p:txBody>
          <a:bodyPr wrap="none">
            <a:spAutoFit/>
          </a:bodyPr>
          <a:lstStyle/>
          <a:p>
            <a:pPr>
              <a:defRPr sz="1800" b="1">
                <a:solidFill>
                  <a:srgbClr val="FFC72C"/>
                </a:solidFill>
                <a:latin typeface="Segoe UI"/>
              </a:defRPr>
            </a:pPr>
            <a:r>
              <a:rPr dirty="0">
                <a:solidFill>
                  <a:schemeClr val="tx2"/>
                </a:solidFill>
              </a:rPr>
              <a:t>Model Interpretation: Econometric Insights &amp; Valuation Dynamics (Section 7.5)</a:t>
            </a:r>
          </a:p>
        </p:txBody>
      </p:sp>
      <p:sp>
        <p:nvSpPr>
          <p:cNvPr id="5" name="TextBox 4"/>
          <p:cNvSpPr txBox="1"/>
          <p:nvPr/>
        </p:nvSpPr>
        <p:spPr>
          <a:xfrm>
            <a:off x="1024128" y="2788919"/>
            <a:ext cx="16230600" cy="6047809"/>
          </a:xfrm>
          <a:prstGeom prst="rect">
            <a:avLst/>
          </a:prstGeom>
          <a:noFill/>
        </p:spPr>
        <p:txBody>
          <a:bodyPr wrap="square">
            <a:spAutoFit/>
          </a:bodyPr>
          <a:lstStyle/>
          <a:p>
            <a:pPr>
              <a:spcAft>
                <a:spcPts val="1400"/>
              </a:spcAft>
            </a:pPr>
            <a:r>
              <a:rPr sz="2800" b="1" dirty="0">
                <a:solidFill>
                  <a:srgbClr val="1D2D68"/>
                </a:solidFill>
                <a:latin typeface="Segoe UI"/>
              </a:rPr>
              <a:t>• 1. Random Forest Outperformed Linear Regression (75.2% vs. 58.8% R²): </a:t>
            </a:r>
            <a:r>
              <a:rPr sz="2400" dirty="0">
                <a:solidFill>
                  <a:srgbClr val="1E293B"/>
                </a:solidFill>
                <a:latin typeface="Segoe UI"/>
              </a:rPr>
              <a:t>Random Forest achieved 75.23% R² on unseen test data compared to 58.78% for MLR, reducing RMSE from 0.7345 to 0.5693. This confirms that Philippine real estate prices exhibit strong non-linear interactions—such as location premiums compounding with property dimensions—which decision tree ensembles capture with superior fidelity.</a:t>
            </a:r>
          </a:p>
          <a:p>
            <a:pPr>
              <a:spcAft>
                <a:spcPts val="1400"/>
              </a:spcAft>
            </a:pPr>
            <a:r>
              <a:rPr sz="2800" b="1" dirty="0">
                <a:solidFill>
                  <a:srgbClr val="1D2D68"/>
                </a:solidFill>
                <a:latin typeface="Segoe UI"/>
              </a:rPr>
              <a:t>• 2. Floor Area and Location are Dominant Determinants: </a:t>
            </a:r>
            <a:r>
              <a:rPr sz="2400" dirty="0">
                <a:solidFill>
                  <a:srgbClr val="1E293B"/>
                </a:solidFill>
                <a:latin typeface="Segoe UI"/>
              </a:rPr>
              <a:t>Both models establish floor area (sqm), bathrooms, and geographic region as dominant value drivers. In Random Forest variable importance (%</a:t>
            </a:r>
            <a:r>
              <a:rPr sz="2400" dirty="0" err="1">
                <a:solidFill>
                  <a:srgbClr val="1E293B"/>
                </a:solidFill>
                <a:latin typeface="Segoe UI"/>
              </a:rPr>
              <a:t>IncMSE</a:t>
            </a:r>
            <a:r>
              <a:rPr sz="2400" dirty="0">
                <a:solidFill>
                  <a:srgbClr val="1E293B"/>
                </a:solidFill>
                <a:latin typeface="Segoe UI"/>
              </a:rPr>
              <a:t>), property type (34.6%), floor area (25.4%), and region (19.7%) rank as the most critical predictors for predictive accuracy.</a:t>
            </a:r>
          </a:p>
          <a:p>
            <a:pPr>
              <a:spcAft>
                <a:spcPts val="1400"/>
              </a:spcAft>
            </a:pPr>
            <a:r>
              <a:rPr sz="2800" b="1" dirty="0">
                <a:solidFill>
                  <a:srgbClr val="1D2D68"/>
                </a:solidFill>
                <a:latin typeface="Segoe UI"/>
              </a:rPr>
              <a:t>• 3. Luxury Signaling via Bathrooms (+49.8% vs. +8.7% per Unit): </a:t>
            </a:r>
            <a:r>
              <a:rPr sz="2400" dirty="0">
                <a:solidFill>
                  <a:srgbClr val="1E293B"/>
                </a:solidFill>
                <a:latin typeface="Segoe UI"/>
              </a:rPr>
              <a:t>Bathroom count (+0.4983) has a vastly stronger price impact than bedroom count (+0.0871). In Philippine housing, additional bathrooms serve as a direct proxy for master en-suite layouts, maid's quarters, and premium luxury finishes rather than simple living capacity.</a:t>
            </a:r>
          </a:p>
          <a:p>
            <a:pPr>
              <a:spcAft>
                <a:spcPts val="1400"/>
              </a:spcAft>
            </a:pPr>
            <a:r>
              <a:rPr sz="2800" b="1" dirty="0">
                <a:solidFill>
                  <a:srgbClr val="1D2D68"/>
                </a:solidFill>
                <a:latin typeface="Segoe UI"/>
              </a:rPr>
              <a:t>• 4. Untransformed vs. Log-Transformed Regression Contrast: </a:t>
            </a:r>
            <a:r>
              <a:rPr sz="2400" dirty="0">
                <a:solidFill>
                  <a:srgbClr val="1E293B"/>
                </a:solidFill>
                <a:latin typeface="Segoe UI"/>
              </a:rPr>
              <a:t>An initial raw Multiple Linear Regression on untransformed prices yielded an R² of only 16.91% with severe heteroscedasticity and a counter-intuitive negative bedroom coefficient (-PHP 2.88M) caused by urban luxury condo outliers. Log-transforming price and including regional indicators resolved omitted variable bias and elevated explanatory power to 58.78% on test data.</a:t>
            </a:r>
          </a:p>
        </p:txBody>
      </p:sp>
      <p:sp>
        <p:nvSpPr>
          <p:cNvPr id="6" name="Freeform 4">
            <a:extLst>
              <a:ext uri="{FF2B5EF4-FFF2-40B4-BE49-F238E27FC236}">
                <a16:creationId xmlns:a16="http://schemas.microsoft.com/office/drawing/2014/main" id="{192950F0-D4DE-2CCC-2DE1-981B3B28592C}"/>
              </a:ext>
            </a:extLst>
          </p:cNvPr>
          <p:cNvSpPr/>
          <p:nvPr/>
        </p:nvSpPr>
        <p:spPr>
          <a:xfrm>
            <a:off x="1" y="1"/>
            <a:ext cx="3733800" cy="1714500"/>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8" name="Freeform 5">
            <a:extLst>
              <a:ext uri="{FF2B5EF4-FFF2-40B4-BE49-F238E27FC236}">
                <a16:creationId xmlns:a16="http://schemas.microsoft.com/office/drawing/2014/main" id="{6F780261-F82E-39AB-1D9E-9C5042E5A45E}"/>
              </a:ext>
            </a:extLst>
          </p:cNvPr>
          <p:cNvSpPr/>
          <p:nvPr/>
        </p:nvSpPr>
        <p:spPr>
          <a:xfrm>
            <a:off x="16351914" y="857213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a:extLst>
            <a:ext uri="{FF2B5EF4-FFF2-40B4-BE49-F238E27FC236}">
              <a16:creationId xmlns:a16="http://schemas.microsoft.com/office/drawing/2014/main" id="{A25C855A-B00A-1414-2C15-F2B34169BF3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8524B70-9150-640D-AD49-C60C7E567FE7}"/>
              </a:ext>
            </a:extLst>
          </p:cNvPr>
          <p:cNvSpPr txBox="1"/>
          <p:nvPr/>
        </p:nvSpPr>
        <p:spPr>
          <a:xfrm>
            <a:off x="1024128" y="960120"/>
            <a:ext cx="16230600" cy="868680"/>
          </a:xfrm>
          <a:prstGeom prst="rect">
            <a:avLst/>
          </a:prstGeom>
        </p:spPr>
        <p:txBody>
          <a:bodyPr lIns="0" tIns="0" rIns="0" bIns="0" rtlCol="0" anchor="t">
            <a:spAutoFit/>
          </a:bodyPr>
          <a:lstStyle/>
          <a:p>
            <a:pPr algn="r">
              <a:lnSpc>
                <a:spcPts val="7200"/>
              </a:lnSpc>
              <a:defRPr sz="3600" b="1">
                <a:solidFill>
                  <a:srgbClr val="1D2D68"/>
                </a:solidFill>
                <a:latin typeface="Segoe UI"/>
              </a:defRPr>
            </a:pPr>
            <a:r>
              <a:rPr lang="en-US" sz="8000" b="1">
                <a:solidFill>
                  <a:srgbClr val="57306E"/>
                </a:solidFill>
                <a:latin typeface="Montserrat Bold"/>
                <a:ea typeface="Montserrat Bold"/>
                <a:cs typeface="Montserrat Bold"/>
                <a:sym typeface="Montserrat Bold"/>
              </a:rPr>
              <a:t>STATISTICAL ANALYSIS </a:t>
            </a:r>
          </a:p>
        </p:txBody>
      </p:sp>
      <p:sp>
        <p:nvSpPr>
          <p:cNvPr id="6" name="TextBox 5">
            <a:extLst>
              <a:ext uri="{FF2B5EF4-FFF2-40B4-BE49-F238E27FC236}">
                <a16:creationId xmlns:a16="http://schemas.microsoft.com/office/drawing/2014/main" id="{A4DF14CE-1813-0431-A3EB-B0E65CCA9019}"/>
              </a:ext>
            </a:extLst>
          </p:cNvPr>
          <p:cNvSpPr txBox="1"/>
          <p:nvPr/>
        </p:nvSpPr>
        <p:spPr>
          <a:xfrm>
            <a:off x="533400" y="2094294"/>
            <a:ext cx="9919575" cy="369332"/>
          </a:xfrm>
          <a:prstGeom prst="rect">
            <a:avLst/>
          </a:prstGeom>
          <a:noFill/>
        </p:spPr>
        <p:txBody>
          <a:bodyPr wrap="none">
            <a:spAutoFit/>
          </a:bodyPr>
          <a:lstStyle/>
          <a:p>
            <a:r>
              <a:rPr lang="en-US" b="1" dirty="0">
                <a:solidFill>
                  <a:schemeClr val="tx2"/>
                </a:solidFill>
              </a:rPr>
              <a:t>Model Valuation Diagnostics: Actual vs. Predicted Asking Prices (MLR vs. Random Forest – Section 7.6)</a:t>
            </a:r>
          </a:p>
        </p:txBody>
      </p:sp>
      <p:sp>
        <p:nvSpPr>
          <p:cNvPr id="8" name="TextBox 7">
            <a:extLst>
              <a:ext uri="{FF2B5EF4-FFF2-40B4-BE49-F238E27FC236}">
                <a16:creationId xmlns:a16="http://schemas.microsoft.com/office/drawing/2014/main" id="{0B680490-6756-073E-DC39-9013765867B9}"/>
              </a:ext>
            </a:extLst>
          </p:cNvPr>
          <p:cNvSpPr txBox="1"/>
          <p:nvPr/>
        </p:nvSpPr>
        <p:spPr>
          <a:xfrm>
            <a:off x="533400" y="2552700"/>
            <a:ext cx="9144000" cy="5640006"/>
          </a:xfrm>
          <a:prstGeom prst="rect">
            <a:avLst/>
          </a:prstGeom>
          <a:noFill/>
        </p:spPr>
        <p:txBody>
          <a:bodyPr wrap="square">
            <a:spAutoFit/>
          </a:bodyPr>
          <a:lstStyle/>
          <a:p>
            <a:pPr>
              <a:spcBef>
                <a:spcPts val="0"/>
              </a:spcBef>
              <a:spcAft>
                <a:spcPts val="400"/>
              </a:spcAft>
            </a:pPr>
            <a:r>
              <a:rPr lang="en-US" sz="2800" b="1" dirty="0">
                <a:solidFill>
                  <a:srgbClr val="1D2D68"/>
                </a:solidFill>
                <a:latin typeface="Calibri"/>
              </a:rPr>
              <a:t>Purpose of Diagnostics:</a:t>
            </a:r>
          </a:p>
          <a:p>
            <a:pPr>
              <a:spcBef>
                <a:spcPts val="200"/>
              </a:spcBef>
              <a:spcAft>
                <a:spcPts val="1000"/>
              </a:spcAft>
            </a:pPr>
            <a:r>
              <a:rPr lang="en-US" sz="2000" b="0" dirty="0">
                <a:solidFill>
                  <a:srgbClr val="1E293B"/>
                </a:solidFill>
                <a:latin typeface="Calibri"/>
              </a:rPr>
              <a:t>To evaluate and visually compare the empirical prediction fit, residual variance, and error dispersion of Multiple Linear Regression (MLR) against Random Forest on the unseen test set (N = 3,158).</a:t>
            </a:r>
          </a:p>
          <a:p>
            <a:pPr>
              <a:spcBef>
                <a:spcPts val="200"/>
              </a:spcBef>
              <a:spcAft>
                <a:spcPts val="400"/>
              </a:spcAft>
            </a:pPr>
            <a:r>
              <a:rPr lang="en-US" sz="2800" b="1" dirty="0">
                <a:solidFill>
                  <a:srgbClr val="1D2D68"/>
                </a:solidFill>
                <a:latin typeface="Calibri"/>
              </a:rPr>
              <a:t>Comparative Model Insights:</a:t>
            </a:r>
          </a:p>
          <a:p>
            <a:pPr>
              <a:spcBef>
                <a:spcPts val="500"/>
              </a:spcBef>
              <a:spcAft>
                <a:spcPts val="300"/>
              </a:spcAft>
            </a:pPr>
            <a:r>
              <a:rPr lang="en-US" sz="2400" b="1" dirty="0">
                <a:solidFill>
                  <a:schemeClr val="tx2"/>
                </a:solidFill>
                <a:latin typeface="Calibri"/>
              </a:rPr>
              <a:t>•</a:t>
            </a:r>
            <a:r>
              <a:rPr lang="en-US" sz="2400" b="1" dirty="0">
                <a:solidFill>
                  <a:srgbClr val="CC8A00"/>
                </a:solidFill>
                <a:latin typeface="Calibri"/>
              </a:rPr>
              <a:t>  </a:t>
            </a:r>
            <a:r>
              <a:rPr lang="en-US" sz="2000" b="1" dirty="0">
                <a:solidFill>
                  <a:srgbClr val="1D2D68"/>
                </a:solidFill>
                <a:latin typeface="Calibri"/>
              </a:rPr>
              <a:t>Multiple Linear Regression (MLR):</a:t>
            </a:r>
            <a:r>
              <a:rPr lang="en-US" b="0" dirty="0">
                <a:solidFill>
                  <a:srgbClr val="1E293B"/>
                </a:solidFill>
                <a:latin typeface="Calibri"/>
              </a:rPr>
              <a:t> Captures overall linear direction (R² = 0.5878, RMSE = 0.7345, MAE = 0.5429), but displays wider residual dispersion and systematically underpredicts high-end luxury estates.</a:t>
            </a:r>
          </a:p>
          <a:p>
            <a:pPr>
              <a:spcBef>
                <a:spcPts val="500"/>
              </a:spcBef>
              <a:spcAft>
                <a:spcPts val="300"/>
              </a:spcAft>
            </a:pPr>
            <a:r>
              <a:rPr lang="en-US" sz="2400" b="1" dirty="0">
                <a:solidFill>
                  <a:schemeClr val="tx2"/>
                </a:solidFill>
                <a:latin typeface="Calibri"/>
              </a:rPr>
              <a:t>•</a:t>
            </a:r>
            <a:r>
              <a:rPr lang="en-US" sz="2400" b="1" dirty="0">
                <a:solidFill>
                  <a:srgbClr val="CC8A00"/>
                </a:solidFill>
                <a:latin typeface="Calibri"/>
              </a:rPr>
              <a:t>  </a:t>
            </a:r>
            <a:r>
              <a:rPr lang="en-US" sz="2000" b="1" dirty="0">
                <a:solidFill>
                  <a:srgbClr val="1D2D68"/>
                </a:solidFill>
                <a:latin typeface="Calibri"/>
              </a:rPr>
              <a:t>Random Forest Superiority:</a:t>
            </a:r>
            <a:r>
              <a:rPr lang="en-US" b="0" dirty="0">
                <a:solidFill>
                  <a:srgbClr val="1E293B"/>
                </a:solidFill>
                <a:latin typeface="Calibri"/>
              </a:rPr>
              <a:t> Clusters significantly tighter along the 45° dashed reference line (R² = 0.7523, RMSE = 0.5693, MAE = 0.4172), reducing prediction error by over 22.5%.</a:t>
            </a:r>
          </a:p>
          <a:p>
            <a:pPr>
              <a:spcBef>
                <a:spcPts val="500"/>
              </a:spcBef>
              <a:spcAft>
                <a:spcPts val="300"/>
              </a:spcAft>
            </a:pPr>
            <a:r>
              <a:rPr lang="en-US" sz="2400" b="1" dirty="0">
                <a:solidFill>
                  <a:schemeClr val="tx2"/>
                </a:solidFill>
                <a:latin typeface="Calibri"/>
              </a:rPr>
              <a:t>• </a:t>
            </a:r>
            <a:r>
              <a:rPr lang="en-US" sz="2400" b="1" dirty="0">
                <a:solidFill>
                  <a:srgbClr val="CC8A00"/>
                </a:solidFill>
                <a:latin typeface="Calibri"/>
              </a:rPr>
              <a:t> </a:t>
            </a:r>
            <a:r>
              <a:rPr lang="en-US" sz="2000" b="1" dirty="0">
                <a:solidFill>
                  <a:srgbClr val="1D2D68"/>
                </a:solidFill>
                <a:latin typeface="Calibri"/>
              </a:rPr>
              <a:t>Non-Linear Compounding:</a:t>
            </a:r>
            <a:r>
              <a:rPr lang="en-US" b="0" dirty="0">
                <a:solidFill>
                  <a:srgbClr val="1E293B"/>
                </a:solidFill>
                <a:latin typeface="Calibri"/>
              </a:rPr>
              <a:t> Real estate prices follow compounding geographic interactions (location premiums scaling non-linearly with floor area) that decision tree ensembles capture far better.</a:t>
            </a:r>
          </a:p>
          <a:p>
            <a:pPr>
              <a:spcBef>
                <a:spcPts val="500"/>
              </a:spcBef>
              <a:spcAft>
                <a:spcPts val="300"/>
              </a:spcAft>
            </a:pPr>
            <a:r>
              <a:rPr lang="en-US" sz="2400" b="1" dirty="0">
                <a:solidFill>
                  <a:schemeClr val="tx2"/>
                </a:solidFill>
                <a:latin typeface="Calibri"/>
              </a:rPr>
              <a:t>•</a:t>
            </a:r>
            <a:r>
              <a:rPr lang="en-US" sz="2400" b="1" dirty="0">
                <a:solidFill>
                  <a:srgbClr val="CC8A00"/>
                </a:solidFill>
                <a:latin typeface="Calibri"/>
              </a:rPr>
              <a:t>  </a:t>
            </a:r>
            <a:r>
              <a:rPr lang="en-US" sz="2000" b="1" dirty="0">
                <a:solidFill>
                  <a:srgbClr val="1D2D68"/>
                </a:solidFill>
                <a:latin typeface="Calibri"/>
              </a:rPr>
              <a:t>Deployment Justification:</a:t>
            </a:r>
            <a:r>
              <a:rPr lang="en-US" b="0" dirty="0">
                <a:solidFill>
                  <a:srgbClr val="1E293B"/>
                </a:solidFill>
                <a:latin typeface="Calibri"/>
              </a:rPr>
              <a:t> Empirically justifies serving Random Forest as the primary valuation algorithm in the interactive R Shiny decision-support dashboard (</a:t>
            </a:r>
            <a:r>
              <a:rPr lang="en-US" b="0" dirty="0" err="1">
                <a:solidFill>
                  <a:srgbClr val="1E293B"/>
                </a:solidFill>
                <a:latin typeface="Calibri"/>
              </a:rPr>
              <a:t>app.R</a:t>
            </a:r>
            <a:r>
              <a:rPr lang="en-US" b="0" dirty="0">
                <a:solidFill>
                  <a:srgbClr val="1E293B"/>
                </a:solidFill>
                <a:latin typeface="Calibri"/>
              </a:rPr>
              <a:t>).</a:t>
            </a:r>
          </a:p>
        </p:txBody>
      </p:sp>
      <p:pic>
        <p:nvPicPr>
          <p:cNvPr id="10" name="Picture 9" descr="image.png">
            <a:extLst>
              <a:ext uri="{FF2B5EF4-FFF2-40B4-BE49-F238E27FC236}">
                <a16:creationId xmlns:a16="http://schemas.microsoft.com/office/drawing/2014/main" id="{A66A2C56-6824-FE45-8515-DED4AB011386}"/>
              </a:ext>
            </a:extLst>
          </p:cNvPr>
          <p:cNvPicPr>
            <a:picLocks noChangeAspect="1"/>
          </p:cNvPicPr>
          <p:nvPr/>
        </p:nvPicPr>
        <p:blipFill>
          <a:blip r:embed="rId2"/>
          <a:stretch>
            <a:fillRect/>
          </a:stretch>
        </p:blipFill>
        <p:spPr>
          <a:xfrm>
            <a:off x="9829800" y="2744884"/>
            <a:ext cx="8233833" cy="5255638"/>
          </a:xfrm>
          <a:prstGeom prst="rect">
            <a:avLst/>
          </a:prstGeom>
        </p:spPr>
      </p:pic>
      <p:sp>
        <p:nvSpPr>
          <p:cNvPr id="12" name="Freeform 4">
            <a:extLst>
              <a:ext uri="{FF2B5EF4-FFF2-40B4-BE49-F238E27FC236}">
                <a16:creationId xmlns:a16="http://schemas.microsoft.com/office/drawing/2014/main" id="{D9696318-7ABC-B42F-57AC-F1F183CACFEF}"/>
              </a:ext>
            </a:extLst>
          </p:cNvPr>
          <p:cNvSpPr/>
          <p:nvPr/>
        </p:nvSpPr>
        <p:spPr>
          <a:xfrm>
            <a:off x="1" y="1"/>
            <a:ext cx="3733800" cy="1714500"/>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5">
            <a:extLst>
              <a:ext uri="{FF2B5EF4-FFF2-40B4-BE49-F238E27FC236}">
                <a16:creationId xmlns:a16="http://schemas.microsoft.com/office/drawing/2014/main" id="{DBF768C7-72A2-F6EB-968D-DD780DC79832}"/>
              </a:ext>
            </a:extLst>
          </p:cNvPr>
          <p:cNvSpPr/>
          <p:nvPr/>
        </p:nvSpPr>
        <p:spPr>
          <a:xfrm>
            <a:off x="16351914" y="857213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dirty="0"/>
          </a:p>
        </p:txBody>
      </p:sp>
    </p:spTree>
    <p:extLst>
      <p:ext uri="{BB962C8B-B14F-4D97-AF65-F5344CB8AC3E}">
        <p14:creationId xmlns:p14="http://schemas.microsoft.com/office/powerpoint/2010/main" val="3492140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extBox 1"/>
          <p:cNvSpPr txBox="1"/>
          <p:nvPr/>
        </p:nvSpPr>
        <p:spPr>
          <a:xfrm>
            <a:off x="1024128" y="960120"/>
            <a:ext cx="16230600" cy="868680"/>
          </a:xfrm>
          <a:prstGeom prst="rect">
            <a:avLst/>
          </a:prstGeom>
          <a:noFill/>
        </p:spPr>
        <p:txBody>
          <a:bodyPr wrap="square">
            <a:spAutoFit/>
          </a:bodyPr>
          <a:lstStyle/>
          <a:p>
            <a:pPr>
              <a:defRPr sz="3600" b="1">
                <a:solidFill>
                  <a:srgbClr val="1D2D68"/>
                </a:solidFill>
                <a:latin typeface="Segoe UI"/>
              </a:defRPr>
            </a:pPr>
            <a:r>
              <a:t>STATISTICAL ANALYSIS</a:t>
            </a:r>
          </a:p>
        </p:txBody>
      </p:sp>
      <p:sp>
        <p:nvSpPr>
          <p:cNvPr id="3" name="TextBox 2"/>
          <p:cNvSpPr txBox="1"/>
          <p:nvPr/>
        </p:nvSpPr>
        <p:spPr>
          <a:xfrm>
            <a:off x="914400" y="2508753"/>
            <a:ext cx="7589520" cy="5436360"/>
          </a:xfrm>
          <a:prstGeom prst="rect">
            <a:avLst/>
          </a:prstGeom>
          <a:noFill/>
        </p:spPr>
        <p:txBody>
          <a:bodyPr wrap="square">
            <a:spAutoFit/>
          </a:bodyPr>
          <a:lstStyle/>
          <a:p>
            <a:pPr>
              <a:lnSpc>
                <a:spcPct val="115000"/>
              </a:lnSpc>
              <a:spcAft>
                <a:spcPts val="600"/>
              </a:spcAft>
              <a:defRPr sz="2200" b="1">
                <a:solidFill>
                  <a:srgbClr val="1D2D68"/>
                </a:solidFill>
                <a:latin typeface="Segoe UI"/>
              </a:defRPr>
            </a:pPr>
            <a:r>
              <a:rPr sz="2400" dirty="0"/>
              <a:t>Purpose of Importance Metrics:</a:t>
            </a:r>
          </a:p>
          <a:p>
            <a:pPr>
              <a:spcAft>
                <a:spcPts val="1600"/>
              </a:spcAft>
              <a:defRPr sz="1650">
                <a:solidFill>
                  <a:srgbClr val="1E293B"/>
                </a:solidFill>
                <a:latin typeface="Segoe UI"/>
              </a:defRPr>
            </a:pPr>
            <a:r>
              <a:rPr sz="1600" dirty="0"/>
              <a:t>To evaluate which physical and regional features have the strongest predictive influence on property asking prices across the 200-tree ensemble.</a:t>
            </a:r>
          </a:p>
          <a:p>
            <a:pPr>
              <a:spcAft>
                <a:spcPts val="800"/>
              </a:spcAft>
              <a:defRPr sz="2200" b="1">
                <a:solidFill>
                  <a:srgbClr val="1D2D68"/>
                </a:solidFill>
                <a:latin typeface="Segoe UI"/>
              </a:defRPr>
            </a:pPr>
            <a:r>
              <a:rPr sz="2400" dirty="0"/>
              <a:t>Feature Hierarchy (%</a:t>
            </a:r>
            <a:r>
              <a:rPr sz="2400" dirty="0" err="1"/>
              <a:t>IncMSE</a:t>
            </a:r>
            <a:r>
              <a:rPr sz="2400" dirty="0"/>
              <a:t> &amp; Node Purity):</a:t>
            </a:r>
          </a:p>
          <a:p>
            <a:pPr>
              <a:spcAft>
                <a:spcPts val="800"/>
              </a:spcAft>
            </a:pPr>
            <a:r>
              <a:rPr sz="1600" b="1" dirty="0">
                <a:solidFill>
                  <a:srgbClr val="1D2D68"/>
                </a:solidFill>
                <a:latin typeface="Segoe UI"/>
              </a:rPr>
              <a:t>• Property Type (34.6% %</a:t>
            </a:r>
            <a:r>
              <a:rPr sz="1600" b="1" dirty="0" err="1">
                <a:solidFill>
                  <a:srgbClr val="1D2D68"/>
                </a:solidFill>
                <a:latin typeface="Segoe UI"/>
              </a:rPr>
              <a:t>IncMSE</a:t>
            </a:r>
            <a:r>
              <a:rPr sz="1600" b="1" dirty="0">
                <a:solidFill>
                  <a:srgbClr val="1D2D68"/>
                </a:solidFill>
                <a:latin typeface="Segoe UI"/>
              </a:rPr>
              <a:t>): </a:t>
            </a:r>
            <a:r>
              <a:rPr sz="1600" dirty="0">
                <a:solidFill>
                  <a:srgbClr val="1E293B"/>
                </a:solidFill>
                <a:latin typeface="Segoe UI"/>
              </a:rPr>
              <a:t>The most critical factor for prediction accuracy; permuting property type causes the greatest loss in model fidelity, separating urban condos from houses.</a:t>
            </a:r>
          </a:p>
          <a:p>
            <a:pPr>
              <a:spcAft>
                <a:spcPts val="800"/>
              </a:spcAft>
            </a:pPr>
            <a:r>
              <a:rPr sz="1600" b="1" dirty="0">
                <a:solidFill>
                  <a:srgbClr val="1D2D68"/>
                </a:solidFill>
                <a:latin typeface="Segoe UI"/>
              </a:rPr>
              <a:t>• Floor Area / sqm (25.4% %</a:t>
            </a:r>
            <a:r>
              <a:rPr sz="1600" b="1" dirty="0" err="1">
                <a:solidFill>
                  <a:srgbClr val="1D2D68"/>
                </a:solidFill>
                <a:latin typeface="Segoe UI"/>
              </a:rPr>
              <a:t>IncMSE</a:t>
            </a:r>
            <a:r>
              <a:rPr sz="1600" b="1" dirty="0">
                <a:solidFill>
                  <a:srgbClr val="1D2D68"/>
                </a:solidFill>
                <a:latin typeface="Segoe UI"/>
              </a:rPr>
              <a:t>): </a:t>
            </a:r>
            <a:r>
              <a:rPr sz="1600" dirty="0">
                <a:solidFill>
                  <a:srgbClr val="1E293B"/>
                </a:solidFill>
                <a:latin typeface="Segoe UI"/>
              </a:rPr>
              <a:t>Primary physical scale determinant; delivers the highest cumulative variance reduction (Node Purity: 4,410.3) across all 200 decision trees.</a:t>
            </a:r>
          </a:p>
          <a:p>
            <a:pPr>
              <a:spcAft>
                <a:spcPts val="800"/>
              </a:spcAft>
            </a:pPr>
            <a:r>
              <a:rPr sz="1600" b="1" dirty="0">
                <a:solidFill>
                  <a:srgbClr val="1D2D68"/>
                </a:solidFill>
                <a:latin typeface="Segoe UI"/>
              </a:rPr>
              <a:t>• Geographic Region (19.7% %</a:t>
            </a:r>
            <a:r>
              <a:rPr sz="1600" b="1" dirty="0" err="1">
                <a:solidFill>
                  <a:srgbClr val="1D2D68"/>
                </a:solidFill>
                <a:latin typeface="Segoe UI"/>
              </a:rPr>
              <a:t>IncMSE</a:t>
            </a:r>
            <a:r>
              <a:rPr sz="1600" b="1" dirty="0">
                <a:solidFill>
                  <a:srgbClr val="1D2D68"/>
                </a:solidFill>
                <a:latin typeface="Segoe UI"/>
              </a:rPr>
              <a:t>): </a:t>
            </a:r>
            <a:r>
              <a:rPr sz="1600" dirty="0">
                <a:solidFill>
                  <a:srgbClr val="1E293B"/>
                </a:solidFill>
                <a:latin typeface="Segoe UI"/>
              </a:rPr>
              <a:t>Captures macro-economic location premiums, explaining why identical units command massive valuation differences across regions.</a:t>
            </a:r>
          </a:p>
          <a:p>
            <a:pPr>
              <a:spcAft>
                <a:spcPts val="800"/>
              </a:spcAft>
            </a:pPr>
            <a:r>
              <a:rPr sz="1600" b="1" dirty="0">
                <a:solidFill>
                  <a:srgbClr val="1D2D68"/>
                </a:solidFill>
                <a:latin typeface="Segoe UI"/>
              </a:rPr>
              <a:t>• Bathrooms (18.9% %</a:t>
            </a:r>
            <a:r>
              <a:rPr sz="1600" b="1" dirty="0" err="1">
                <a:solidFill>
                  <a:srgbClr val="1D2D68"/>
                </a:solidFill>
                <a:latin typeface="Segoe UI"/>
              </a:rPr>
              <a:t>IncMSE</a:t>
            </a:r>
            <a:r>
              <a:rPr sz="1600" b="1" dirty="0">
                <a:solidFill>
                  <a:srgbClr val="1D2D68"/>
                </a:solidFill>
                <a:latin typeface="Segoe UI"/>
              </a:rPr>
              <a:t>): </a:t>
            </a:r>
            <a:r>
              <a:rPr sz="1600" dirty="0">
                <a:solidFill>
                  <a:srgbClr val="1E293B"/>
                </a:solidFill>
                <a:latin typeface="Segoe UI"/>
              </a:rPr>
              <a:t>Outranks bedrooms in both importance and node purity (2,491.0 vs 1,563.0), reinforcing its role as an empirical luxury proxy.</a:t>
            </a:r>
          </a:p>
          <a:p>
            <a:pPr>
              <a:spcAft>
                <a:spcPts val="800"/>
              </a:spcAft>
            </a:pPr>
            <a:r>
              <a:rPr sz="1600" b="1" dirty="0">
                <a:solidFill>
                  <a:srgbClr val="1D2D68"/>
                </a:solidFill>
                <a:latin typeface="Segoe UI"/>
              </a:rPr>
              <a:t>• Non-Linear Superiority: </a:t>
            </a:r>
            <a:r>
              <a:rPr sz="1600" dirty="0">
                <a:solidFill>
                  <a:srgbClr val="1E293B"/>
                </a:solidFill>
                <a:latin typeface="Segoe UI"/>
              </a:rPr>
              <a:t>Capturing location × size interactions elevated explained variance to 75.23% R² on unseen test data.</a:t>
            </a:r>
          </a:p>
        </p:txBody>
      </p:sp>
      <p:pic>
        <p:nvPicPr>
          <p:cNvPr id="4" name="Random_Forest_Variable_Importance" descr="image.png"/>
          <p:cNvPicPr>
            <a:picLocks noChangeAspect="1"/>
          </p:cNvPicPr>
          <p:nvPr/>
        </p:nvPicPr>
        <p:blipFill>
          <a:blip r:embed="rId2"/>
          <a:stretch>
            <a:fillRect/>
          </a:stretch>
        </p:blipFill>
        <p:spPr>
          <a:xfrm>
            <a:off x="8961120" y="2514600"/>
            <a:ext cx="8412480" cy="6217920"/>
          </a:xfrm>
          <a:prstGeom prst="rect">
            <a:avLst/>
          </a:prstGeom>
        </p:spPr>
      </p:pic>
      <p:sp>
        <p:nvSpPr>
          <p:cNvPr id="5" name="TextBox 4"/>
          <p:cNvSpPr txBox="1"/>
          <p:nvPr/>
        </p:nvSpPr>
        <p:spPr>
          <a:xfrm>
            <a:off x="1024128" y="1874519"/>
            <a:ext cx="8770158" cy="369332"/>
          </a:xfrm>
          <a:prstGeom prst="rect">
            <a:avLst/>
          </a:prstGeom>
          <a:noFill/>
        </p:spPr>
        <p:txBody>
          <a:bodyPr wrap="none">
            <a:spAutoFit/>
          </a:bodyPr>
          <a:lstStyle/>
          <a:p>
            <a:pPr>
              <a:defRPr sz="1800" b="1">
                <a:solidFill>
                  <a:srgbClr val="FFC72C"/>
                </a:solidFill>
                <a:latin typeface="Segoe UI"/>
              </a:defRPr>
            </a:pPr>
            <a:r>
              <a:rPr dirty="0">
                <a:solidFill>
                  <a:schemeClr val="tx2"/>
                </a:solidFill>
              </a:rPr>
              <a:t>Random Forest Variable Importance Plot: %</a:t>
            </a:r>
            <a:r>
              <a:rPr dirty="0" err="1">
                <a:solidFill>
                  <a:schemeClr val="tx2"/>
                </a:solidFill>
              </a:rPr>
              <a:t>IncMSE</a:t>
            </a:r>
            <a:r>
              <a:rPr dirty="0">
                <a:solidFill>
                  <a:schemeClr val="tx2"/>
                </a:solidFill>
              </a:rPr>
              <a:t> &amp; Node Purity (Section 7.4)</a:t>
            </a:r>
          </a:p>
        </p:txBody>
      </p:sp>
      <p:sp>
        <p:nvSpPr>
          <p:cNvPr id="7" name="Freeform 4">
            <a:extLst>
              <a:ext uri="{FF2B5EF4-FFF2-40B4-BE49-F238E27FC236}">
                <a16:creationId xmlns:a16="http://schemas.microsoft.com/office/drawing/2014/main" id="{96E2CCC9-DD67-5906-F17A-89827651EE1A}"/>
              </a:ext>
            </a:extLst>
          </p:cNvPr>
          <p:cNvSpPr/>
          <p:nvPr/>
        </p:nvSpPr>
        <p:spPr>
          <a:xfrm>
            <a:off x="14549284" y="0"/>
            <a:ext cx="3733800" cy="1714500"/>
          </a:xfrm>
          <a:custGeom>
            <a:avLst/>
            <a:gdLst/>
            <a:ahLst/>
            <a:cxnLst/>
            <a:rect l="l" t="t" r="r" b="b"/>
            <a:pathLst>
              <a:path w="5694689" h="3385751">
                <a:moveTo>
                  <a:pt x="0" y="0"/>
                </a:moveTo>
                <a:lnTo>
                  <a:pt x="5694688" y="0"/>
                </a:lnTo>
                <a:lnTo>
                  <a:pt x="5694688" y="3385751"/>
                </a:lnTo>
                <a:lnTo>
                  <a:pt x="0" y="33857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9" name="Freeform 5">
            <a:extLst>
              <a:ext uri="{FF2B5EF4-FFF2-40B4-BE49-F238E27FC236}">
                <a16:creationId xmlns:a16="http://schemas.microsoft.com/office/drawing/2014/main" id="{F278EFCA-1FF2-659C-F196-4C8060A9F96A}"/>
              </a:ext>
            </a:extLst>
          </p:cNvPr>
          <p:cNvSpPr/>
          <p:nvPr/>
        </p:nvSpPr>
        <p:spPr>
          <a:xfrm>
            <a:off x="-1396022" y="8890978"/>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53149" y="2149708"/>
            <a:ext cx="9569601" cy="0"/>
          </a:xfrm>
          <a:prstGeom prst="line">
            <a:avLst/>
          </a:prstGeom>
          <a:ln w="38100" cap="flat">
            <a:solidFill>
              <a:srgbClr val="6B4780"/>
            </a:solidFill>
            <a:prstDash val="solid"/>
            <a:headEnd type="none" w="sm" len="sm"/>
            <a:tailEnd type="none" w="sm" len="sm"/>
          </a:ln>
        </p:spPr>
        <p:txBody>
          <a:bodyPr/>
          <a:lstStyle/>
          <a:p>
            <a:endParaRPr/>
          </a:p>
        </p:txBody>
      </p:sp>
      <p:sp>
        <p:nvSpPr>
          <p:cNvPr id="3" name="Freeform 3"/>
          <p:cNvSpPr/>
          <p:nvPr/>
        </p:nvSpPr>
        <p:spPr>
          <a:xfrm>
            <a:off x="14209026" y="-290945"/>
            <a:ext cx="4439172" cy="2639289"/>
          </a:xfrm>
          <a:custGeom>
            <a:avLst/>
            <a:gdLst/>
            <a:ahLst/>
            <a:cxnLst/>
            <a:rect l="l" t="t" r="r" b="b"/>
            <a:pathLst>
              <a:path w="4439172" h="2639289">
                <a:moveTo>
                  <a:pt x="0" y="0"/>
                </a:moveTo>
                <a:lnTo>
                  <a:pt x="4439172" y="0"/>
                </a:lnTo>
                <a:lnTo>
                  <a:pt x="4439172" y="2639290"/>
                </a:lnTo>
                <a:lnTo>
                  <a:pt x="0" y="26392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a:off x="3286116" y="2616370"/>
            <a:ext cx="10911958" cy="6595343"/>
          </a:xfrm>
          <a:custGeom>
            <a:avLst/>
            <a:gdLst/>
            <a:ahLst/>
            <a:cxnLst/>
            <a:rect l="l" t="t" r="r" b="b"/>
            <a:pathLst>
              <a:path w="10911958" h="6595343">
                <a:moveTo>
                  <a:pt x="0" y="0"/>
                </a:moveTo>
                <a:lnTo>
                  <a:pt x="10911958" y="0"/>
                </a:lnTo>
                <a:lnTo>
                  <a:pt x="10911958" y="6595343"/>
                </a:lnTo>
                <a:lnTo>
                  <a:pt x="0" y="6595343"/>
                </a:lnTo>
                <a:lnTo>
                  <a:pt x="0" y="0"/>
                </a:lnTo>
                <a:close/>
              </a:path>
            </a:pathLst>
          </a:custGeom>
          <a:blipFill>
            <a:blip r:embed="rId3"/>
            <a:stretch>
              <a:fillRect/>
            </a:stretch>
          </a:blipFill>
        </p:spPr>
        <p:txBody>
          <a:bodyPr/>
          <a:lstStyle/>
          <a:p>
            <a:endParaRPr/>
          </a:p>
        </p:txBody>
      </p:sp>
      <p:sp>
        <p:nvSpPr>
          <p:cNvPr id="6" name="TextBox 6"/>
          <p:cNvSpPr txBox="1"/>
          <p:nvPr/>
        </p:nvSpPr>
        <p:spPr>
          <a:xfrm>
            <a:off x="1053149" y="1140057"/>
            <a:ext cx="10273780"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FINDINGS</a:t>
            </a:r>
          </a:p>
        </p:txBody>
      </p:sp>
      <p:sp>
        <p:nvSpPr>
          <p:cNvPr id="8" name="Freeform 5">
            <a:extLst>
              <a:ext uri="{FF2B5EF4-FFF2-40B4-BE49-F238E27FC236}">
                <a16:creationId xmlns:a16="http://schemas.microsoft.com/office/drawing/2014/main" id="{E4B32C76-D556-7019-C56D-DB7F9DE27C1A}"/>
              </a:ext>
            </a:extLst>
          </p:cNvPr>
          <p:cNvSpPr/>
          <p:nvPr/>
        </p:nvSpPr>
        <p:spPr>
          <a:xfrm>
            <a:off x="-914400" y="842010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2329295"/>
            <a:ext cx="9569601" cy="0"/>
          </a:xfrm>
          <a:prstGeom prst="line">
            <a:avLst/>
          </a:prstGeom>
          <a:ln w="38100" cap="flat">
            <a:solidFill>
              <a:srgbClr val="6B4780"/>
            </a:solidFill>
            <a:prstDash val="solid"/>
            <a:headEnd type="none" w="sm" len="sm"/>
            <a:tailEnd type="none" w="sm" len="sm"/>
          </a:ln>
        </p:spPr>
        <p:txBody>
          <a:bodyPr/>
          <a:lstStyle/>
          <a:p>
            <a:endParaRPr/>
          </a:p>
        </p:txBody>
      </p:sp>
      <p:sp>
        <p:nvSpPr>
          <p:cNvPr id="3" name="Freeform 3"/>
          <p:cNvSpPr/>
          <p:nvPr/>
        </p:nvSpPr>
        <p:spPr>
          <a:xfrm>
            <a:off x="14209026" y="-290945"/>
            <a:ext cx="4439172" cy="2639289"/>
          </a:xfrm>
          <a:custGeom>
            <a:avLst/>
            <a:gdLst/>
            <a:ahLst/>
            <a:cxnLst/>
            <a:rect l="l" t="t" r="r" b="b"/>
            <a:pathLst>
              <a:path w="4439172" h="2639289">
                <a:moveTo>
                  <a:pt x="0" y="0"/>
                </a:moveTo>
                <a:lnTo>
                  <a:pt x="4439172" y="0"/>
                </a:lnTo>
                <a:lnTo>
                  <a:pt x="4439172" y="2639290"/>
                </a:lnTo>
                <a:lnTo>
                  <a:pt x="0" y="26392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TextBox 5"/>
          <p:cNvSpPr txBox="1"/>
          <p:nvPr/>
        </p:nvSpPr>
        <p:spPr>
          <a:xfrm>
            <a:off x="1028700" y="1319644"/>
            <a:ext cx="10273780"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KEY FINDINGS</a:t>
            </a:r>
          </a:p>
        </p:txBody>
      </p:sp>
      <p:sp>
        <p:nvSpPr>
          <p:cNvPr id="6" name="TextBox 6"/>
          <p:cNvSpPr txBox="1"/>
          <p:nvPr/>
        </p:nvSpPr>
        <p:spPr>
          <a:xfrm>
            <a:off x="1028700" y="2468040"/>
            <a:ext cx="16230600" cy="7405466"/>
          </a:xfrm>
          <a:prstGeom prst="rect">
            <a:avLst/>
          </a:prstGeom>
        </p:spPr>
        <p:txBody>
          <a:bodyPr lIns="0" tIns="0" rIns="0" bIns="0" rtlCol="0" anchor="t">
            <a:spAutoFit/>
          </a:bodyPr>
          <a:lstStyle/>
          <a:p>
            <a:pPr algn="just">
              <a:lnSpc>
                <a:spcPct val="115000"/>
              </a:lnSpc>
              <a:spcAft>
                <a:spcPts val="800"/>
              </a:spcAft>
            </a:pPr>
            <a:r>
              <a:rPr sz="2000" b="1">
                <a:solidFill>
                  <a:srgbClr val="57306E"/>
                </a:solidFill>
                <a:latin typeface="Montserrat"/>
              </a:rPr>
              <a:t>1. Severe Price Skewness: </a:t>
            </a:r>
            <a:r>
              <a:rPr sz="2000" b="0">
                <a:solidFill>
                  <a:srgbClr val="57306E"/>
                </a:solidFill>
                <a:latin typeface="Montserrat"/>
              </a:rPr>
              <a:t>Median price of PHP 12.3M provides a realistic baseline for typical Philippine properties; arithmetic mean (PHP 41.6M) is inflated 3.4x by ultra-luxury listings up to PHP 1.0B.</a:t>
            </a:r>
          </a:p>
          <a:p>
            <a:pPr>
              <a:lnSpc>
                <a:spcPct val="115000"/>
              </a:lnSpc>
              <a:spcAft>
                <a:spcPts val="800"/>
              </a:spcAft>
            </a:pPr>
            <a:r>
              <a:rPr sz="2000" b="1">
                <a:solidFill>
                  <a:srgbClr val="57306E"/>
                </a:solidFill>
                <a:latin typeface="Montserrat"/>
              </a:rPr>
              <a:t>2. NCR Commands Unmatched Market Premiums: </a:t>
            </a:r>
            <a:r>
              <a:rPr sz="2000" b="0">
                <a:solidFill>
                  <a:srgbClr val="57306E"/>
                </a:solidFill>
                <a:latin typeface="Montserrat"/>
              </a:rPr>
              <a:t>NCR heavily dominates property value per square meter at nearly PHP 180,000/sqm, outpricing Central Visayas (~PHP 110,000/sqm) and provincial regions (&gt;2x higher).</a:t>
            </a:r>
          </a:p>
          <a:p>
            <a:pPr>
              <a:lnSpc>
                <a:spcPct val="115000"/>
              </a:lnSpc>
              <a:spcAft>
                <a:spcPts val="800"/>
              </a:spcAft>
            </a:pPr>
            <a:r>
              <a:rPr sz="2000" b="1">
                <a:solidFill>
                  <a:srgbClr val="57306E"/>
                </a:solidFill>
                <a:latin typeface="Montserrat"/>
              </a:rPr>
              <a:t>3. Bathrooms &amp; Size Drive Pricing: </a:t>
            </a:r>
            <a:r>
              <a:rPr sz="2000" b="0">
                <a:solidFill>
                  <a:srgbClr val="57306E"/>
                </a:solidFill>
                <a:latin typeface="Montserrat"/>
              </a:rPr>
              <a:t>Floor area scales price positively, while bathroom count (+49.8% value increase per bathroom in MLR) serves as the primary physical proxy for luxury finishes and en-suite layouts.</a:t>
            </a:r>
          </a:p>
          <a:p>
            <a:pPr>
              <a:lnSpc>
                <a:spcPct val="115000"/>
              </a:lnSpc>
              <a:spcAft>
                <a:spcPts val="800"/>
              </a:spcAft>
            </a:pPr>
            <a:r>
              <a:rPr sz="2000" b="1">
                <a:solidFill>
                  <a:srgbClr val="57306E"/>
                </a:solidFill>
                <a:latin typeface="Montserrat"/>
              </a:rPr>
              <a:t>4. Dual-Model Machine Learning Superiority: </a:t>
            </a:r>
            <a:r>
              <a:rPr sz="2000" b="0">
                <a:solidFill>
                  <a:srgbClr val="57306E"/>
                </a:solidFill>
                <a:latin typeface="Montserrat"/>
              </a:rPr>
              <a:t>Random Forest captures compounding interactions between location and size, explaining 75.2% of price variance (R² = 0.7523) on unseen test data vs. 58.8% for MLR.</a:t>
            </a:r>
          </a:p>
          <a:p>
            <a:pPr>
              <a:lnSpc>
                <a:spcPct val="115000"/>
              </a:lnSpc>
              <a:spcAft>
                <a:spcPts val="800"/>
              </a:spcAft>
            </a:pPr>
            <a:r>
              <a:rPr sz="2000" b="1">
                <a:solidFill>
                  <a:srgbClr val="57306E"/>
                </a:solidFill>
                <a:latin typeface="Montserrat"/>
              </a:rPr>
              <a:t>5. Urban Condominium Premium: </a:t>
            </a:r>
            <a:r>
              <a:rPr sz="2000" b="0">
                <a:solidFill>
                  <a:srgbClr val="57306E"/>
                </a:solidFill>
                <a:latin typeface="Montserrat"/>
              </a:rPr>
              <a:t>Controlling for size and room count, condominiums command a ~43.3% price premium over houses due to concentration in prime central business districts (BGC, Makati, Cebu IT Park).</a:t>
            </a:r>
          </a:p>
          <a:p>
            <a:pPr>
              <a:lnSpc>
                <a:spcPct val="115000"/>
              </a:lnSpc>
              <a:spcAft>
                <a:spcPts val="400"/>
              </a:spcAft>
            </a:pPr>
            <a:r>
              <a:rPr sz="2000" b="1">
                <a:solidFill>
                  <a:srgbClr val="57306E"/>
                </a:solidFill>
                <a:latin typeface="Montserrat"/>
              </a:rPr>
              <a:t>6. Active Inventory Turnover Velocity: </a:t>
            </a:r>
            <a:r>
              <a:rPr sz="2000" b="0">
                <a:solidFill>
                  <a:srgbClr val="57306E"/>
                </a:solidFill>
                <a:latin typeface="Montserrat"/>
              </a:rPr>
              <a:t>Active listings reflect a median price of PHP 10.0M compared to PHP 13.0M for inactive records, demonstrating that lower-priced listings turn over more actively in the real market.</a:t>
            </a:r>
          </a:p>
        </p:txBody>
      </p:sp>
      <p:sp>
        <p:nvSpPr>
          <p:cNvPr id="8" name="Freeform 5">
            <a:extLst>
              <a:ext uri="{FF2B5EF4-FFF2-40B4-BE49-F238E27FC236}">
                <a16:creationId xmlns:a16="http://schemas.microsoft.com/office/drawing/2014/main" id="{75700600-E3C1-2682-8729-E53D9707ED93}"/>
              </a:ext>
            </a:extLst>
          </p:cNvPr>
          <p:cNvSpPr/>
          <p:nvPr/>
        </p:nvSpPr>
        <p:spPr>
          <a:xfrm>
            <a:off x="-1066800" y="859718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flipV="1">
            <a:off x="1028700" y="2837530"/>
            <a:ext cx="4642519"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742208"/>
            <a:ext cx="7239521"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DISCUSSION </a:t>
            </a:r>
          </a:p>
        </p:txBody>
      </p:sp>
      <p:sp>
        <p:nvSpPr>
          <p:cNvPr id="4" name="TextBox 4"/>
          <p:cNvSpPr txBox="1"/>
          <p:nvPr/>
        </p:nvSpPr>
        <p:spPr>
          <a:xfrm>
            <a:off x="1028700" y="3100000"/>
            <a:ext cx="16230600" cy="6600000"/>
          </a:xfrm>
          <a:prstGeom prst="rect">
            <a:avLst/>
          </a:prstGeom>
        </p:spPr>
        <p:txBody>
          <a:bodyPr lIns="0" tIns="0" rIns="0" bIns="0" rtlCol="0" anchor="t">
            <a:spAutoFit/>
          </a:bodyPr>
          <a:lstStyle/>
          <a:p>
            <a:pPr algn="just">
              <a:lnSpc>
                <a:spcPct val="115000"/>
              </a:lnSpc>
              <a:spcAft>
                <a:spcPts val="1200"/>
              </a:spcAft>
            </a:pPr>
            <a:r>
              <a:rPr sz="2400" b="1">
                <a:solidFill>
                  <a:srgbClr val="57306E"/>
                </a:solidFill>
                <a:latin typeface="Montserrat"/>
              </a:rPr>
              <a:t>The findings answer what drives Philippine property asking prices and resolve key market dynamics:</a:t>
            </a:r>
          </a:p>
          <a:p>
            <a:pPr>
              <a:lnSpc>
                <a:spcPct val="115000"/>
              </a:lnSpc>
              <a:spcAft>
                <a:spcPts val="1000"/>
              </a:spcAft>
            </a:pPr>
            <a:r>
              <a:rPr sz="2000" b="1">
                <a:solidFill>
                  <a:srgbClr val="57306E"/>
                </a:solidFill>
                <a:latin typeface="Montserrat"/>
              </a:rPr>
              <a:t>• Empirical Valuation vs. Intuition: </a:t>
            </a:r>
            <a:r>
              <a:rPr sz="2000" b="0">
                <a:solidFill>
                  <a:srgbClr val="57306E"/>
                </a:solidFill>
                <a:latin typeface="Montserrat"/>
              </a:rPr>
              <a:t>Arithmetic mean is heavily distorted by ultra-luxury estates. Data analytics proves that log-normal transformations and median metrics are mathematically required for realistic appraisal and pricing.</a:t>
            </a:r>
          </a:p>
          <a:p>
            <a:pPr>
              <a:lnSpc>
                <a:spcPct val="115000"/>
              </a:lnSpc>
              <a:spcAft>
                <a:spcPts val="1000"/>
              </a:spcAft>
            </a:pPr>
            <a:r>
              <a:rPr sz="2000" b="1">
                <a:solidFill>
                  <a:srgbClr val="57306E"/>
                </a:solidFill>
                <a:latin typeface="Montserrat"/>
              </a:rPr>
              <a:t>• The Condominium Price Paradox: </a:t>
            </a:r>
            <a:r>
              <a:rPr sz="2000" b="0">
                <a:solidFill>
                  <a:srgbClr val="57306E"/>
                </a:solidFill>
                <a:latin typeface="Montserrat"/>
              </a:rPr>
              <a:t>While houses have larger areas and higher total asking prices, condominiums command a statistically significant 43.3% premium over houses of equivalent size and room counts, driven by prime CBD land scarcity (BGC, Makati, Cebu IT Park).</a:t>
            </a:r>
          </a:p>
          <a:p>
            <a:pPr>
              <a:lnSpc>
                <a:spcPct val="115000"/>
              </a:lnSpc>
              <a:spcAft>
                <a:spcPts val="1000"/>
              </a:spcAft>
            </a:pPr>
            <a:r>
              <a:rPr sz="2000" b="1">
                <a:solidFill>
                  <a:srgbClr val="57306E"/>
                </a:solidFill>
                <a:latin typeface="Montserrat"/>
              </a:rPr>
              <a:t>• Why Machine Learning Excels: </a:t>
            </a:r>
            <a:r>
              <a:rPr sz="2000" b="0">
                <a:solidFill>
                  <a:srgbClr val="57306E"/>
                </a:solidFill>
                <a:latin typeface="Montserrat"/>
              </a:rPr>
              <a:t>Real estate valuation is non-linear. Random Forest's 75.23% R² captures compounding spatial premiums (e.g., floor area is worth exponentially more in NCR than in provincial areas) that additive linear models cannot capture.</a:t>
            </a:r>
          </a:p>
          <a:p>
            <a:pPr>
              <a:lnSpc>
                <a:spcPct val="115000"/>
              </a:lnSpc>
              <a:spcAft>
                <a:spcPts val="400"/>
              </a:spcAft>
            </a:pPr>
            <a:r>
              <a:rPr sz="2000" b="1">
                <a:solidFill>
                  <a:srgbClr val="57306E"/>
                </a:solidFill>
                <a:latin typeface="Montserrat"/>
              </a:rPr>
              <a:t>• Strategic Business Value: </a:t>
            </a:r>
            <a:r>
              <a:rPr sz="2000" b="0">
                <a:solidFill>
                  <a:srgbClr val="57306E"/>
                </a:solidFill>
                <a:latin typeface="Montserrat"/>
              </a:rPr>
              <a:t>Replaces subjective intuition with quantitative, reproducible benchmarks, creating measurable value for homebuyers, sellers, developers, and lending institutions (Verhoef et al., 2022).</a:t>
            </a:r>
          </a:p>
        </p:txBody>
      </p:sp>
      <p:sp>
        <p:nvSpPr>
          <p:cNvPr id="6" name="Freeform 3">
            <a:extLst>
              <a:ext uri="{FF2B5EF4-FFF2-40B4-BE49-F238E27FC236}">
                <a16:creationId xmlns:a16="http://schemas.microsoft.com/office/drawing/2014/main" id="{B2E27AF2-EE89-F506-7F2B-2CD6B6C34742}"/>
              </a:ext>
            </a:extLst>
          </p:cNvPr>
          <p:cNvSpPr/>
          <p:nvPr/>
        </p:nvSpPr>
        <p:spPr>
          <a:xfrm>
            <a:off x="14209026" y="-290945"/>
            <a:ext cx="4439172" cy="2639289"/>
          </a:xfrm>
          <a:custGeom>
            <a:avLst/>
            <a:gdLst/>
            <a:ahLst/>
            <a:cxnLst/>
            <a:rect l="l" t="t" r="r" b="b"/>
            <a:pathLst>
              <a:path w="4439172" h="2639289">
                <a:moveTo>
                  <a:pt x="0" y="0"/>
                </a:moveTo>
                <a:lnTo>
                  <a:pt x="4439172" y="0"/>
                </a:lnTo>
                <a:lnTo>
                  <a:pt x="4439172" y="2639290"/>
                </a:lnTo>
                <a:lnTo>
                  <a:pt x="0" y="26392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8" name="Freeform 5">
            <a:extLst>
              <a:ext uri="{FF2B5EF4-FFF2-40B4-BE49-F238E27FC236}">
                <a16:creationId xmlns:a16="http://schemas.microsoft.com/office/drawing/2014/main" id="{7FFA2A25-095B-C8A7-2A36-43F31DAAD9B3}"/>
              </a:ext>
            </a:extLst>
          </p:cNvPr>
          <p:cNvSpPr/>
          <p:nvPr/>
        </p:nvSpPr>
        <p:spPr>
          <a:xfrm>
            <a:off x="-838200" y="8420100"/>
            <a:ext cx="2792043" cy="2792043"/>
          </a:xfrm>
          <a:custGeom>
            <a:avLst/>
            <a:gdLst/>
            <a:ahLst/>
            <a:cxnLst/>
            <a:rect l="l" t="t" r="r" b="b"/>
            <a:pathLst>
              <a:path w="2792043" h="2792043">
                <a:moveTo>
                  <a:pt x="0" y="0"/>
                </a:moveTo>
                <a:lnTo>
                  <a:pt x="2792043" y="0"/>
                </a:lnTo>
                <a:lnTo>
                  <a:pt x="2792043" y="2792043"/>
                </a:lnTo>
                <a:lnTo>
                  <a:pt x="0" y="2792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2690326"/>
            <a:ext cx="7480097"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595004"/>
            <a:ext cx="7480097"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CONCLUSION</a:t>
            </a:r>
          </a:p>
        </p:txBody>
      </p:sp>
      <p:sp>
        <p:nvSpPr>
          <p:cNvPr id="4" name="TextBox 4"/>
          <p:cNvSpPr txBox="1"/>
          <p:nvPr/>
        </p:nvSpPr>
        <p:spPr>
          <a:xfrm>
            <a:off x="876327" y="2976076"/>
            <a:ext cx="16382973" cy="4548425"/>
          </a:xfrm>
          <a:prstGeom prst="rect">
            <a:avLst/>
          </a:prstGeom>
        </p:spPr>
        <p:txBody>
          <a:bodyPr lIns="0" tIns="0" rIns="0" bIns="0" rtlCol="0" anchor="t">
            <a:spAutoFit/>
          </a:bodyPr>
          <a:lstStyle/>
          <a:p>
            <a:pPr algn="just">
              <a:lnSpc>
                <a:spcPct val="115000"/>
              </a:lnSpc>
              <a:spcAft>
                <a:spcPts val="1000"/>
              </a:spcAft>
            </a:pPr>
            <a:r>
              <a:rPr sz="2800" b="1" dirty="0">
                <a:solidFill>
                  <a:srgbClr val="57306E"/>
                </a:solidFill>
                <a:latin typeface="Montserrat"/>
              </a:rPr>
              <a:t>All 5 Research Objectives Successfully Fulfilled:</a:t>
            </a:r>
          </a:p>
          <a:p>
            <a:pPr>
              <a:lnSpc>
                <a:spcPct val="115000"/>
              </a:lnSpc>
              <a:spcAft>
                <a:spcPts val="800"/>
              </a:spcAft>
            </a:pPr>
            <a:r>
              <a:rPr sz="2000" b="1" dirty="0">
                <a:solidFill>
                  <a:srgbClr val="57306E"/>
                </a:solidFill>
                <a:latin typeface="Montserrat"/>
              </a:rPr>
              <a:t>• Obj 1 (Structure &amp; Quality): </a:t>
            </a:r>
            <a:r>
              <a:rPr sz="2000" b="0" dirty="0">
                <a:solidFill>
                  <a:srgbClr val="57306E"/>
                </a:solidFill>
                <a:latin typeface="Montserrat"/>
              </a:rPr>
              <a:t>Analyzed 241,496 property listings across 17 regions, characterizing the right-skewed distribution (Median PHP 12.3M vs Mean PHP 41.6M).</a:t>
            </a:r>
          </a:p>
          <a:p>
            <a:pPr>
              <a:lnSpc>
                <a:spcPct val="115000"/>
              </a:lnSpc>
              <a:spcAft>
                <a:spcPts val="800"/>
              </a:spcAft>
            </a:pPr>
            <a:r>
              <a:t>• Obj 2 (Data Cleaning &amp; ETL): Executed 6-stage scrubbing funnel, handling non-random missingness, filtering 79.3% inactive listings, and establishing a verified 15,790 complete modeling cohort.</a:t>
            </a:r>
          </a:p>
          <a:p>
            <a:pPr>
              <a:lnSpc>
                <a:spcPct val="115000"/>
              </a:lnSpc>
              <a:spcAft>
                <a:spcPts val="800"/>
              </a:spcAft>
            </a:pPr>
            <a:r>
              <a:rPr sz="2000" b="1" dirty="0">
                <a:solidFill>
                  <a:srgbClr val="57306E"/>
                </a:solidFill>
                <a:latin typeface="Montserrat"/>
              </a:rPr>
              <a:t>• Obj 3 (Market Exploration): </a:t>
            </a:r>
            <a:r>
              <a:rPr sz="2000" b="0" dirty="0">
                <a:solidFill>
                  <a:srgbClr val="57306E"/>
                </a:solidFill>
                <a:latin typeface="Montserrat"/>
              </a:rPr>
              <a:t>Identified NCR land monopoly (PHP 180,000/sqm), faster turnover in sub-PHP 10M properties, and verified the Condominium Price Paradox via log-scale visualizations.</a:t>
            </a:r>
          </a:p>
          <a:p>
            <a:pPr>
              <a:lnSpc>
                <a:spcPct val="115000"/>
              </a:lnSpc>
              <a:spcAft>
                <a:spcPts val="800"/>
              </a:spcAft>
            </a:pPr>
            <a:r>
              <a:rPr sz="2000" b="1" dirty="0">
                <a:solidFill>
                  <a:srgbClr val="57306E"/>
                </a:solidFill>
                <a:latin typeface="Montserrat"/>
              </a:rPr>
              <a:t>• Obj 4 (Dual-Model Prediction): </a:t>
            </a:r>
            <a:r>
              <a:rPr sz="2000" b="0" dirty="0">
                <a:solidFill>
                  <a:srgbClr val="57306E"/>
                </a:solidFill>
                <a:latin typeface="Montserrat"/>
              </a:rPr>
              <a:t>Proved Random Forest superiority (75.23% test R², 0.5693 RMSE) over MLR (58.78%), confirming bathrooms (+49.8%) and floor area as top physical drivers.</a:t>
            </a:r>
          </a:p>
          <a:p>
            <a:pPr>
              <a:lnSpc>
                <a:spcPct val="115000"/>
              </a:lnSpc>
              <a:spcAft>
                <a:spcPts val="800"/>
              </a:spcAft>
            </a:pPr>
            <a:r>
              <a:rPr sz="2000" b="1" dirty="0">
                <a:solidFill>
                  <a:srgbClr val="57306E"/>
                </a:solidFill>
                <a:latin typeface="Montserrat"/>
              </a:rPr>
              <a:t>• Obj 5 (Interactive Dashboard): </a:t>
            </a:r>
            <a:r>
              <a:rPr sz="2000" b="0" dirty="0">
                <a:solidFill>
                  <a:srgbClr val="57306E"/>
                </a:solidFill>
                <a:latin typeface="Montserrat"/>
              </a:rPr>
              <a:t>Deployed an operational R Shiny valuation dashboard (</a:t>
            </a:r>
            <a:r>
              <a:rPr sz="2000" b="0" dirty="0" err="1">
                <a:solidFill>
                  <a:srgbClr val="57306E"/>
                </a:solidFill>
                <a:latin typeface="Montserrat"/>
              </a:rPr>
              <a:t>app.R</a:t>
            </a:r>
            <a:r>
              <a:rPr sz="2000" b="0" dirty="0">
                <a:solidFill>
                  <a:srgbClr val="57306E"/>
                </a:solidFill>
                <a:latin typeface="Montserrat"/>
              </a:rPr>
              <a:t>) providing dynamic inventory filtering and real-time Automated Valuation Model (AVM) pricing.</a:t>
            </a:r>
          </a:p>
        </p:txBody>
      </p:sp>
      <p:sp>
        <p:nvSpPr>
          <p:cNvPr id="5" name="Freeform 5"/>
          <p:cNvSpPr/>
          <p:nvPr/>
        </p:nvSpPr>
        <p:spPr>
          <a:xfrm>
            <a:off x="14209026" y="-290945"/>
            <a:ext cx="4439172" cy="2639289"/>
          </a:xfrm>
          <a:custGeom>
            <a:avLst/>
            <a:gdLst/>
            <a:ahLst/>
            <a:cxnLst/>
            <a:rect l="l" t="t" r="r" b="b"/>
            <a:pathLst>
              <a:path w="4439172" h="2639289">
                <a:moveTo>
                  <a:pt x="0" y="0"/>
                </a:moveTo>
                <a:lnTo>
                  <a:pt x="4439172" y="0"/>
                </a:lnTo>
                <a:lnTo>
                  <a:pt x="4439172" y="2639290"/>
                </a:lnTo>
                <a:lnTo>
                  <a:pt x="0" y="26392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6" name="Freeform 6"/>
          <p:cNvSpPr/>
          <p:nvPr/>
        </p:nvSpPr>
        <p:spPr>
          <a:xfrm>
            <a:off x="-914400" y="8603506"/>
            <a:ext cx="2792043" cy="2792043"/>
          </a:xfrm>
          <a:custGeom>
            <a:avLst/>
            <a:gdLst/>
            <a:ahLst/>
            <a:cxnLst/>
            <a:rect l="l" t="t" r="r" b="b"/>
            <a:pathLst>
              <a:path w="2792043" h="2792043">
                <a:moveTo>
                  <a:pt x="0" y="0"/>
                </a:moveTo>
                <a:lnTo>
                  <a:pt x="2792043" y="0"/>
                </a:lnTo>
                <a:lnTo>
                  <a:pt x="2792043" y="2792044"/>
                </a:lnTo>
                <a:lnTo>
                  <a:pt x="0" y="279204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2690326"/>
            <a:ext cx="7480097"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595004"/>
            <a:ext cx="12321038"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RECOMMENDATIONS </a:t>
            </a:r>
          </a:p>
        </p:txBody>
      </p:sp>
      <p:sp>
        <p:nvSpPr>
          <p:cNvPr id="4" name="TextBox 4"/>
          <p:cNvSpPr txBox="1"/>
          <p:nvPr/>
        </p:nvSpPr>
        <p:spPr>
          <a:xfrm>
            <a:off x="1028700" y="3318365"/>
            <a:ext cx="15551700" cy="5039841"/>
          </a:xfrm>
          <a:prstGeom prst="rect">
            <a:avLst/>
          </a:prstGeom>
        </p:spPr>
        <p:txBody>
          <a:bodyPr lIns="0" tIns="0" rIns="0" bIns="0" rtlCol="0" anchor="t">
            <a:spAutoFit/>
          </a:bodyPr>
          <a:lstStyle/>
          <a:p>
            <a:pPr>
              <a:spcBef>
                <a:spcPts val="0"/>
              </a:spcBef>
              <a:spcAft>
                <a:spcPts val="200"/>
              </a:spcAft>
            </a:pPr>
            <a:r>
              <a:rPr sz="2800" b="1" dirty="0">
                <a:solidFill>
                  <a:srgbClr val="1D2D68"/>
                </a:solidFill>
                <a:latin typeface="Segoe UI"/>
              </a:rPr>
              <a:t>1. Homebuyers &amp; Investors: Look Beyond NCR for Value</a:t>
            </a:r>
          </a:p>
          <a:p>
            <a:pPr>
              <a:spcBef>
                <a:spcPts val="100"/>
              </a:spcBef>
              <a:spcAft>
                <a:spcPts val="400"/>
              </a:spcAft>
            </a:pPr>
            <a:r>
              <a:rPr sz="2400" dirty="0">
                <a:solidFill>
                  <a:srgbClr val="1E293B"/>
                </a:solidFill>
                <a:latin typeface="Segoe UI"/>
              </a:rPr>
              <a:t>NCR commands massive premiums (~PHP 180,000/sqm). Buyers with flexible location preferences should target high-growth economic corridors like CALABARZON (Region IV-A) and Central Visayas (Region VII) to obtain substantially greater square footage per peso without sacrificing infrastructure access.</a:t>
            </a:r>
          </a:p>
          <a:p>
            <a:pPr>
              <a:spcBef>
                <a:spcPts val="800"/>
              </a:spcBef>
              <a:spcAft>
                <a:spcPts val="200"/>
              </a:spcAft>
            </a:pPr>
            <a:r>
              <a:rPr sz="2800" b="1" dirty="0">
                <a:solidFill>
                  <a:srgbClr val="1D2D68"/>
                </a:solidFill>
                <a:latin typeface="Segoe UI"/>
              </a:rPr>
              <a:t>2. Property Developers &amp; Sellers: Prioritize Bathroom Layouts</a:t>
            </a:r>
          </a:p>
          <a:p>
            <a:pPr>
              <a:spcBef>
                <a:spcPts val="100"/>
              </a:spcBef>
              <a:spcAft>
                <a:spcPts val="400"/>
              </a:spcAft>
            </a:pPr>
            <a:r>
              <a:rPr sz="2400" dirty="0">
                <a:solidFill>
                  <a:srgbClr val="1E293B"/>
                </a:solidFill>
                <a:latin typeface="Segoe UI"/>
              </a:rPr>
              <a:t>Bathroom count yielded the strongest physical price effect (+49.8% value increase per additional bathroom, vs. +8.7% for bedrooms). Developers should emphasize en-suite master bathrooms and functional powder rooms over simply adding raw bedroom counts.</a:t>
            </a:r>
          </a:p>
          <a:p>
            <a:pPr>
              <a:spcBef>
                <a:spcPts val="800"/>
              </a:spcBef>
              <a:spcAft>
                <a:spcPts val="200"/>
              </a:spcAft>
            </a:pPr>
            <a:r>
              <a:rPr sz="2800" b="1" dirty="0">
                <a:solidFill>
                  <a:srgbClr val="1D2D68"/>
                </a:solidFill>
                <a:latin typeface="Segoe UI"/>
              </a:rPr>
              <a:t>3. Analysts &amp; Researchers: Standardize PSGC Geocodes &amp; Deploy Advanced ML</a:t>
            </a:r>
          </a:p>
          <a:p>
            <a:pPr>
              <a:spcBef>
                <a:spcPts val="100"/>
              </a:spcBef>
              <a:spcAft>
                <a:spcPts val="400"/>
              </a:spcAft>
            </a:pPr>
            <a:r>
              <a:rPr sz="2400" dirty="0">
                <a:solidFill>
                  <a:srgbClr val="1E293B"/>
                </a:solidFill>
                <a:latin typeface="Segoe UI"/>
              </a:rPr>
              <a:t>While regional modeling boosted accuracy to 75.23% using Random Forest, administrative regions still aggregate diverse sub-markets. Future studies should standardize the 1,530 city text strings to official PSGC codes down to the barangay level and evaluate gradient boosting models (</a:t>
            </a:r>
            <a:r>
              <a:rPr sz="2400" dirty="0" err="1">
                <a:solidFill>
                  <a:srgbClr val="1E293B"/>
                </a:solidFill>
                <a:latin typeface="Segoe UI"/>
              </a:rPr>
              <a:t>XGBoost</a:t>
            </a:r>
            <a:r>
              <a:rPr sz="2400" dirty="0">
                <a:solidFill>
                  <a:srgbClr val="1E293B"/>
                </a:solidFill>
                <a:latin typeface="Segoe UI"/>
              </a:rPr>
              <a:t>) for micro-neighborhood precision.</a:t>
            </a:r>
          </a:p>
        </p:txBody>
      </p:sp>
      <p:sp>
        <p:nvSpPr>
          <p:cNvPr id="5" name="Freeform 5"/>
          <p:cNvSpPr/>
          <p:nvPr/>
        </p:nvSpPr>
        <p:spPr>
          <a:xfrm>
            <a:off x="14209026" y="-290945"/>
            <a:ext cx="4439172" cy="2639289"/>
          </a:xfrm>
          <a:custGeom>
            <a:avLst/>
            <a:gdLst/>
            <a:ahLst/>
            <a:cxnLst/>
            <a:rect l="l" t="t" r="r" b="b"/>
            <a:pathLst>
              <a:path w="4439172" h="2639289">
                <a:moveTo>
                  <a:pt x="0" y="0"/>
                </a:moveTo>
                <a:lnTo>
                  <a:pt x="4439172" y="0"/>
                </a:lnTo>
                <a:lnTo>
                  <a:pt x="4439172" y="2639290"/>
                </a:lnTo>
                <a:lnTo>
                  <a:pt x="0" y="26392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6" name="Freeform 6"/>
          <p:cNvSpPr/>
          <p:nvPr/>
        </p:nvSpPr>
        <p:spPr>
          <a:xfrm>
            <a:off x="-990600" y="8519446"/>
            <a:ext cx="2792043" cy="2792043"/>
          </a:xfrm>
          <a:custGeom>
            <a:avLst/>
            <a:gdLst/>
            <a:ahLst/>
            <a:cxnLst/>
            <a:rect l="l" t="t" r="r" b="b"/>
            <a:pathLst>
              <a:path w="2792043" h="2792043">
                <a:moveTo>
                  <a:pt x="0" y="0"/>
                </a:moveTo>
                <a:lnTo>
                  <a:pt x="2792043" y="0"/>
                </a:lnTo>
                <a:lnTo>
                  <a:pt x="2792043" y="2792044"/>
                </a:lnTo>
                <a:lnTo>
                  <a:pt x="0" y="279204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AutoShape 2"/>
          <p:cNvSpPr/>
          <p:nvPr/>
        </p:nvSpPr>
        <p:spPr>
          <a:xfrm>
            <a:off x="1028700" y="2690326"/>
            <a:ext cx="7480097" cy="0"/>
          </a:xfrm>
          <a:prstGeom prst="line">
            <a:avLst/>
          </a:prstGeom>
          <a:ln w="38100" cap="flat">
            <a:solidFill>
              <a:srgbClr val="6B4780"/>
            </a:solidFill>
            <a:prstDash val="solid"/>
            <a:headEnd type="none" w="sm" len="sm"/>
            <a:tailEnd type="none" w="sm" len="sm"/>
          </a:ln>
        </p:spPr>
        <p:txBody>
          <a:bodyPr/>
          <a:lstStyle/>
          <a:p>
            <a:endParaRPr/>
          </a:p>
        </p:txBody>
      </p:sp>
      <p:sp>
        <p:nvSpPr>
          <p:cNvPr id="3" name="TextBox 3"/>
          <p:cNvSpPr txBox="1"/>
          <p:nvPr/>
        </p:nvSpPr>
        <p:spPr>
          <a:xfrm>
            <a:off x="1028700" y="1595004"/>
            <a:ext cx="12321038" cy="990601"/>
          </a:xfrm>
          <a:prstGeom prst="rect">
            <a:avLst/>
          </a:prstGeom>
        </p:spPr>
        <p:txBody>
          <a:bodyPr lIns="0" tIns="0" rIns="0" bIns="0" rtlCol="0" anchor="t">
            <a:spAutoFit/>
          </a:bodyPr>
          <a:lstStyle/>
          <a:p>
            <a:pPr algn="l">
              <a:lnSpc>
                <a:spcPts val="7200"/>
              </a:lnSpc>
            </a:pPr>
            <a:r>
              <a:rPr lang="en-US" sz="8000" b="1">
                <a:solidFill>
                  <a:srgbClr val="57306E"/>
                </a:solidFill>
                <a:latin typeface="Montserrat Bold"/>
                <a:ea typeface="Montserrat Bold"/>
                <a:cs typeface="Montserrat Bold"/>
                <a:sym typeface="Montserrat Bold"/>
              </a:rPr>
              <a:t>LIMITATIONS</a:t>
            </a:r>
          </a:p>
        </p:txBody>
      </p:sp>
      <p:sp>
        <p:nvSpPr>
          <p:cNvPr id="4" name="TextBox 4"/>
          <p:cNvSpPr txBox="1"/>
          <p:nvPr/>
        </p:nvSpPr>
        <p:spPr>
          <a:xfrm>
            <a:off x="1023022" y="2737951"/>
            <a:ext cx="16236278" cy="5401479"/>
          </a:xfrm>
          <a:prstGeom prst="rect">
            <a:avLst/>
          </a:prstGeom>
        </p:spPr>
        <p:txBody>
          <a:bodyPr lIns="0" tIns="0" rIns="0" bIns="0" rtlCol="0" anchor="t">
            <a:spAutoFit/>
          </a:bodyPr>
          <a:lstStyle/>
          <a:p>
            <a:pPr>
              <a:spcBef>
                <a:spcPts val="400"/>
              </a:spcBef>
              <a:spcAft>
                <a:spcPts val="300"/>
              </a:spcAft>
            </a:pPr>
            <a:r>
              <a:rPr sz="2400" b="1" dirty="0">
                <a:solidFill>
                  <a:schemeClr val="tx2"/>
                </a:solidFill>
                <a:latin typeface="Segoe UI"/>
              </a:rPr>
              <a:t>•</a:t>
            </a:r>
            <a:r>
              <a:rPr sz="2400" b="1" dirty="0">
                <a:solidFill>
                  <a:srgbClr val="CC8A00"/>
                </a:solidFill>
                <a:latin typeface="Segoe UI"/>
              </a:rPr>
              <a:t> </a:t>
            </a:r>
            <a:r>
              <a:rPr sz="2400" b="1" dirty="0">
                <a:solidFill>
                  <a:srgbClr val="1D2D68"/>
                </a:solidFill>
                <a:latin typeface="Segoe UI"/>
              </a:rPr>
              <a:t>Granular Location Data Sparsity: </a:t>
            </a:r>
            <a:r>
              <a:rPr sz="2000" dirty="0">
                <a:solidFill>
                  <a:srgbClr val="1E293B"/>
                </a:solidFill>
                <a:latin typeface="Segoe UI"/>
              </a:rPr>
              <a:t>Although administrative region was incorporated in the model, 23.2% of raw listings lacked regional tags, and sub-district columns (district 77.5%, barangay 83.4%) were dropped due to extreme sparsity, preventing micro-level neighborhood tracking.</a:t>
            </a:r>
          </a:p>
          <a:p>
            <a:pPr>
              <a:spcBef>
                <a:spcPts val="400"/>
              </a:spcBef>
              <a:spcAft>
                <a:spcPts val="300"/>
              </a:spcAft>
            </a:pPr>
            <a:r>
              <a:rPr sz="2400" b="1" dirty="0">
                <a:solidFill>
                  <a:schemeClr val="tx2"/>
                </a:solidFill>
                <a:latin typeface="Segoe UI"/>
              </a:rPr>
              <a:t>•</a:t>
            </a:r>
            <a:r>
              <a:rPr sz="2400" b="1" dirty="0">
                <a:solidFill>
                  <a:srgbClr val="CC8A00"/>
                </a:solidFill>
                <a:latin typeface="Segoe UI"/>
              </a:rPr>
              <a:t> </a:t>
            </a:r>
            <a:r>
              <a:rPr sz="2400" b="1" dirty="0">
                <a:solidFill>
                  <a:srgbClr val="1D2D68"/>
                </a:solidFill>
                <a:latin typeface="Segoe UI"/>
              </a:rPr>
              <a:t>Snapshot Nature: </a:t>
            </a:r>
            <a:r>
              <a:rPr sz="2000" dirty="0">
                <a:solidFill>
                  <a:srgbClr val="1E293B"/>
                </a:solidFill>
                <a:latin typeface="Segoe UI"/>
              </a:rPr>
              <a:t>The dataset was scraped at a single point in time (August 30, 2026) and does not capture seasonal market shifts or longitudinal macroeconomic trends.</a:t>
            </a:r>
          </a:p>
          <a:p>
            <a:pPr>
              <a:spcBef>
                <a:spcPts val="400"/>
              </a:spcBef>
              <a:spcAft>
                <a:spcPts val="300"/>
              </a:spcAft>
            </a:pPr>
            <a:r>
              <a:rPr sz="2400" b="1" dirty="0">
                <a:solidFill>
                  <a:schemeClr val="tx2"/>
                </a:solidFill>
                <a:latin typeface="Segoe UI"/>
              </a:rPr>
              <a:t>• </a:t>
            </a:r>
            <a:r>
              <a:rPr sz="2400" b="1" dirty="0">
                <a:solidFill>
                  <a:srgbClr val="1D2D68"/>
                </a:solidFill>
                <a:latin typeface="Segoe UI"/>
              </a:rPr>
              <a:t>Asking Prices vs. Sold Prices: </a:t>
            </a:r>
            <a:r>
              <a:rPr sz="2000" dirty="0">
                <a:solidFill>
                  <a:srgbClr val="1E293B"/>
                </a:solidFill>
                <a:latin typeface="Segoe UI"/>
              </a:rPr>
              <a:t>Listings reflect asking prices set by brokers, which exclude final negotiated closing discounts and transaction fees.</a:t>
            </a:r>
          </a:p>
          <a:p>
            <a:pPr>
              <a:spcBef>
                <a:spcPts val="400"/>
              </a:spcBef>
              <a:spcAft>
                <a:spcPts val="300"/>
              </a:spcAft>
            </a:pPr>
            <a:r>
              <a:rPr sz="2400" b="1" dirty="0">
                <a:solidFill>
                  <a:schemeClr val="tx2"/>
                </a:solidFill>
                <a:latin typeface="Segoe UI"/>
              </a:rPr>
              <a:t>• </a:t>
            </a:r>
            <a:r>
              <a:rPr sz="2400" b="1" dirty="0">
                <a:solidFill>
                  <a:srgbClr val="1D2D68"/>
                </a:solidFill>
                <a:latin typeface="Segoe UI"/>
              </a:rPr>
              <a:t>Sale Listings Only: </a:t>
            </a:r>
            <a:r>
              <a:rPr sz="2000" dirty="0">
                <a:solidFill>
                  <a:srgbClr val="1E293B"/>
                </a:solidFill>
                <a:latin typeface="Segoe UI"/>
              </a:rPr>
              <a:t>Rentals and lease agreements are excluded from the dataset.</a:t>
            </a:r>
          </a:p>
          <a:p>
            <a:pPr>
              <a:spcBef>
                <a:spcPts val="400"/>
              </a:spcBef>
              <a:spcAft>
                <a:spcPts val="300"/>
              </a:spcAft>
            </a:pPr>
            <a:r>
              <a:rPr sz="2400" b="1" dirty="0">
                <a:solidFill>
                  <a:schemeClr val="tx2"/>
                </a:solidFill>
                <a:latin typeface="Segoe UI"/>
              </a:rPr>
              <a:t>•</a:t>
            </a:r>
            <a:r>
              <a:rPr sz="2400" b="1" dirty="0">
                <a:solidFill>
                  <a:srgbClr val="CC8A00"/>
                </a:solidFill>
                <a:latin typeface="Segoe UI"/>
              </a:rPr>
              <a:t> </a:t>
            </a:r>
            <a:r>
              <a:rPr sz="2400" b="1" dirty="0">
                <a:solidFill>
                  <a:srgbClr val="1D2D68"/>
                </a:solidFill>
                <a:latin typeface="Segoe UI"/>
              </a:rPr>
              <a:t>Incomplete Room Data: </a:t>
            </a:r>
            <a:r>
              <a:rPr sz="2000" dirty="0">
                <a:solidFill>
                  <a:srgbClr val="1E293B"/>
                </a:solidFill>
                <a:latin typeface="Segoe UI"/>
              </a:rPr>
              <a:t>Bathrooms are missing in 62.0% and bedrooms in 38.8% of raw listings, restricting modeling to complete residential records.</a:t>
            </a:r>
          </a:p>
          <a:p>
            <a:pPr>
              <a:spcBef>
                <a:spcPts val="400"/>
              </a:spcBef>
              <a:spcAft>
                <a:spcPts val="300"/>
              </a:spcAft>
            </a:pPr>
            <a:r>
              <a:rPr sz="2400" b="1" dirty="0">
                <a:solidFill>
                  <a:schemeClr val="tx2"/>
                </a:solidFill>
                <a:latin typeface="Segoe UI"/>
              </a:rPr>
              <a:t>•</a:t>
            </a:r>
            <a:r>
              <a:rPr sz="2400" b="1" dirty="0">
                <a:solidFill>
                  <a:srgbClr val="CC8A00"/>
                </a:solidFill>
                <a:latin typeface="Segoe UI"/>
              </a:rPr>
              <a:t> </a:t>
            </a:r>
            <a:r>
              <a:rPr sz="2400" b="1" dirty="0">
                <a:solidFill>
                  <a:srgbClr val="1D2D68"/>
                </a:solidFill>
                <a:latin typeface="Segoe UI"/>
              </a:rPr>
              <a:t>Model Scope &amp; Algorithmic Horizon: </a:t>
            </a:r>
            <a:r>
              <a:rPr sz="2000" dirty="0">
                <a:solidFill>
                  <a:srgbClr val="1E293B"/>
                </a:solidFill>
                <a:latin typeface="Segoe UI"/>
              </a:rPr>
              <a:t>While Multiple Linear Regression and Random Forest were implemented on log-transformed prices, spatial econometric models, </a:t>
            </a:r>
            <a:r>
              <a:rPr sz="2000" dirty="0" err="1">
                <a:solidFill>
                  <a:srgbClr val="1E293B"/>
                </a:solidFill>
                <a:latin typeface="Segoe UI"/>
              </a:rPr>
              <a:t>XGBoost</a:t>
            </a:r>
            <a:r>
              <a:rPr sz="2000" dirty="0">
                <a:solidFill>
                  <a:srgbClr val="1E293B"/>
                </a:solidFill>
                <a:latin typeface="Segoe UI"/>
              </a:rPr>
              <a:t>, and </a:t>
            </a:r>
            <a:r>
              <a:rPr sz="2000" dirty="0" err="1">
                <a:solidFill>
                  <a:srgbClr val="1E293B"/>
                </a:solidFill>
                <a:latin typeface="Segoe UI"/>
              </a:rPr>
              <a:t>LightGBM</a:t>
            </a:r>
            <a:r>
              <a:rPr sz="2000" dirty="0">
                <a:solidFill>
                  <a:srgbClr val="1E293B"/>
                </a:solidFill>
                <a:latin typeface="Segoe UI"/>
              </a:rPr>
              <a:t> were not evaluated and represent promising avenues for future research.</a:t>
            </a:r>
          </a:p>
          <a:p>
            <a:pPr>
              <a:spcBef>
                <a:spcPts val="400"/>
              </a:spcBef>
              <a:spcAft>
                <a:spcPts val="300"/>
              </a:spcAft>
            </a:pPr>
            <a:r>
              <a:rPr sz="2400" b="1" dirty="0">
                <a:solidFill>
                  <a:schemeClr val="tx2"/>
                </a:solidFill>
                <a:latin typeface="Segoe UI"/>
              </a:rPr>
              <a:t>• </a:t>
            </a:r>
            <a:r>
              <a:rPr sz="2400" b="1" dirty="0">
                <a:solidFill>
                  <a:srgbClr val="1D2D68"/>
                </a:solidFill>
                <a:latin typeface="Segoe UI"/>
              </a:rPr>
              <a:t>Unstandardized City Names: </a:t>
            </a:r>
            <a:r>
              <a:rPr sz="2000" dirty="0">
                <a:solidFill>
                  <a:srgbClr val="1E293B"/>
                </a:solidFill>
                <a:latin typeface="Segoe UI"/>
              </a:rPr>
              <a:t>The 1,530 city text strings are not linked to official Philippine Standard Geographic Code (PSGC) definitions.</a:t>
            </a:r>
          </a:p>
        </p:txBody>
      </p:sp>
      <p:sp>
        <p:nvSpPr>
          <p:cNvPr id="5" name="Freeform 5"/>
          <p:cNvSpPr/>
          <p:nvPr/>
        </p:nvSpPr>
        <p:spPr>
          <a:xfrm>
            <a:off x="14209026" y="-290945"/>
            <a:ext cx="4439172" cy="2639289"/>
          </a:xfrm>
          <a:custGeom>
            <a:avLst/>
            <a:gdLst/>
            <a:ahLst/>
            <a:cxnLst/>
            <a:rect l="l" t="t" r="r" b="b"/>
            <a:pathLst>
              <a:path w="4439172" h="2639289">
                <a:moveTo>
                  <a:pt x="0" y="0"/>
                </a:moveTo>
                <a:lnTo>
                  <a:pt x="4439172" y="0"/>
                </a:lnTo>
                <a:lnTo>
                  <a:pt x="4439172" y="2639290"/>
                </a:lnTo>
                <a:lnTo>
                  <a:pt x="0" y="26392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6" name="Freeform 6"/>
          <p:cNvSpPr/>
          <p:nvPr/>
        </p:nvSpPr>
        <p:spPr>
          <a:xfrm>
            <a:off x="-1066800" y="8722722"/>
            <a:ext cx="2792043" cy="2792043"/>
          </a:xfrm>
          <a:custGeom>
            <a:avLst/>
            <a:gdLst/>
            <a:ahLst/>
            <a:cxnLst/>
            <a:rect l="l" t="t" r="r" b="b"/>
            <a:pathLst>
              <a:path w="2792043" h="2792043">
                <a:moveTo>
                  <a:pt x="0" y="0"/>
                </a:moveTo>
                <a:lnTo>
                  <a:pt x="2792043" y="0"/>
                </a:lnTo>
                <a:lnTo>
                  <a:pt x="2792043" y="2792044"/>
                </a:lnTo>
                <a:lnTo>
                  <a:pt x="0" y="279204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4128" y="777240"/>
            <a:ext cx="16230600" cy="868680"/>
          </a:xfrm>
          <a:prstGeom prst="rect">
            <a:avLst/>
          </a:prstGeom>
          <a:noFill/>
        </p:spPr>
        <p:txBody>
          <a:bodyPr wrap="none">
            <a:spAutoFit/>
          </a:bodyPr>
          <a:lstStyle/>
          <a:p>
            <a:pPr>
              <a:defRPr sz="3600" b="1">
                <a:solidFill>
                  <a:srgbClr val="1D2D68"/>
                </a:solidFill>
                <a:latin typeface="Segoe UI"/>
              </a:defRPr>
            </a:pPr>
            <a:r>
              <a:t>TECHNICAL IMPLEMENTATION: SYSTEM ARCHITECTURE</a:t>
            </a:r>
          </a:p>
        </p:txBody>
      </p:sp>
      <p:sp>
        <p:nvSpPr>
          <p:cNvPr id="3" name="TextBox 2"/>
          <p:cNvSpPr txBox="1"/>
          <p:nvPr/>
        </p:nvSpPr>
        <p:spPr>
          <a:xfrm>
            <a:off x="1024128" y="1691640"/>
            <a:ext cx="16230600" cy="502920"/>
          </a:xfrm>
          <a:prstGeom prst="rect">
            <a:avLst/>
          </a:prstGeom>
          <a:noFill/>
        </p:spPr>
        <p:txBody>
          <a:bodyPr wrap="none">
            <a:spAutoFit/>
          </a:bodyPr>
          <a:lstStyle/>
          <a:p>
            <a:pPr>
              <a:defRPr sz="1800" b="1">
                <a:solidFill>
                  <a:srgbClr val="FFC72C"/>
                </a:solidFill>
                <a:latin typeface="Segoe UI"/>
              </a:defRPr>
            </a:pPr>
            <a:r>
              <a:t>Section 10.0 • End-to-End Pipeline Topology, Data Warehouse &amp; Serving Layer Architecture</a:t>
            </a:r>
          </a:p>
        </p:txBody>
      </p:sp>
      <p:sp>
        <p:nvSpPr>
          <p:cNvPr id="5" name="TextBox 4"/>
          <p:cNvSpPr txBox="1"/>
          <p:nvPr/>
        </p:nvSpPr>
        <p:spPr>
          <a:xfrm>
            <a:off x="1024128" y="8503920"/>
            <a:ext cx="16230600" cy="1280160"/>
          </a:xfrm>
          <a:prstGeom prst="rect">
            <a:avLst/>
          </a:prstGeom>
          <a:noFill/>
        </p:spPr>
        <p:txBody>
          <a:bodyPr wrap="square">
            <a:spAutoFit/>
          </a:bodyPr>
          <a:lstStyle/>
          <a:p>
            <a:pPr>
              <a:spcAft>
                <a:spcPts val="400"/>
              </a:spcAft>
            </a:pPr>
            <a:r>
              <a:rPr sz="1500" b="1">
                <a:solidFill>
                  <a:srgbClr val="1D2D68"/>
                </a:solidFill>
                <a:latin typeface="Segoe UI"/>
              </a:rPr>
              <a:t>End-to-End Operational Pipeline Architecture (Section 10.0): </a:t>
            </a:r>
            <a:r>
              <a:rPr sz="1450">
                <a:solidFill>
                  <a:srgbClr val="1E293B"/>
                </a:solidFill>
                <a:latin typeface="Segoe UI"/>
              </a:rPr>
              <a:t>1. Raw Kaggle Ingestion (241,496 rows) → 2. Scrubbing &amp; Canonical Deduplication (01_data_cleaning.R) → 3. Data Warehouse Storage (listings_clean.csv, listings_residential.csv) → 4. Parallel Compute (02_eda.R, 03_viz.R, 04_modeling.R) → 5. Live Interactive Serving via R Shiny Dashboard (app.R).</a:t>
            </a:r>
          </a:p>
          <a:p>
            <a:r>
              <a:rPr sz="1500" b="1">
                <a:solidFill>
                  <a:srgbClr val="1D2D68"/>
                </a:solidFill>
                <a:latin typeface="Segoe UI"/>
              </a:rPr>
              <a:t>Technical Environment &amp; Reproducibility (Section 10.1 &amp; 10.2): </a:t>
            </a:r>
            <a:r>
              <a:rPr sz="1450">
                <a:solidFill>
                  <a:srgbClr val="64748B"/>
                </a:solidFill>
                <a:latin typeface="Segoe UI"/>
              </a:rPr>
              <a:t>R 4.3+ | RStudio | tidyverse (dplyr, readr, ggplot2) | caret | randomForest | shiny | plotly | bslib | Self-contained reproducibility via run-scripts &amp; Git repository.</a:t>
            </a:r>
          </a:p>
        </p:txBody>
      </p:sp>
      <p:pic>
        <p:nvPicPr>
          <p:cNvPr id="6" name="Picture 5" descr="system_architecture_pipeline.png"/>
          <p:cNvPicPr>
            <a:picLocks noChangeAspect="1"/>
          </p:cNvPicPr>
          <p:nvPr/>
        </p:nvPicPr>
        <p:blipFill>
          <a:blip r:embed="rId3"/>
          <a:stretch>
            <a:fillRect/>
          </a:stretch>
        </p:blipFill>
        <p:spPr>
          <a:xfrm>
            <a:off x="1024128" y="2331720"/>
            <a:ext cx="16230600" cy="60350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extBox 2"/>
          <p:cNvSpPr txBox="1"/>
          <p:nvPr/>
        </p:nvSpPr>
        <p:spPr>
          <a:xfrm>
            <a:off x="1613257" y="4305078"/>
            <a:ext cx="15061486" cy="2172145"/>
          </a:xfrm>
          <a:prstGeom prst="rect">
            <a:avLst/>
          </a:prstGeom>
        </p:spPr>
        <p:txBody>
          <a:bodyPr lIns="0" tIns="0" rIns="0" bIns="0" rtlCol="0" anchor="t">
            <a:spAutoFit/>
          </a:bodyPr>
          <a:lstStyle/>
          <a:p>
            <a:pPr algn="ctr">
              <a:lnSpc>
                <a:spcPts val="15760"/>
              </a:lnSpc>
            </a:pPr>
            <a:r>
              <a:rPr lang="en-US" sz="17511" b="1">
                <a:solidFill>
                  <a:srgbClr val="57306E"/>
                </a:solidFill>
                <a:latin typeface="Montserrat Bold"/>
                <a:ea typeface="Montserrat Bold"/>
                <a:cs typeface="Montserrat Bold"/>
                <a:sym typeface="Montserrat Bold"/>
              </a:rPr>
              <a:t>THANK YOU</a:t>
            </a:r>
          </a:p>
        </p:txBody>
      </p:sp>
      <p:sp>
        <p:nvSpPr>
          <p:cNvPr id="3" name="AutoShape 3"/>
          <p:cNvSpPr/>
          <p:nvPr/>
        </p:nvSpPr>
        <p:spPr>
          <a:xfrm>
            <a:off x="1613257" y="6458172"/>
            <a:ext cx="15061486" cy="0"/>
          </a:xfrm>
          <a:prstGeom prst="line">
            <a:avLst/>
          </a:prstGeom>
          <a:ln w="38100" cap="flat">
            <a:solidFill>
              <a:srgbClr val="6B4780"/>
            </a:solidFill>
            <a:prstDash val="solid"/>
            <a:headEnd type="none" w="sm" len="sm"/>
            <a:tailEnd type="none" w="sm" len="sm"/>
          </a:ln>
        </p:spPr>
        <p:txBody>
          <a:bodyPr/>
          <a:lstStyle/>
          <a:p>
            <a:endParaRPr/>
          </a:p>
        </p:txBody>
      </p:sp>
      <p:sp>
        <p:nvSpPr>
          <p:cNvPr id="4" name="Freeform 4"/>
          <p:cNvSpPr/>
          <p:nvPr/>
        </p:nvSpPr>
        <p:spPr>
          <a:xfrm>
            <a:off x="14832658" y="-290945"/>
            <a:ext cx="4439172" cy="2639289"/>
          </a:xfrm>
          <a:custGeom>
            <a:avLst/>
            <a:gdLst/>
            <a:ahLst/>
            <a:cxnLst/>
            <a:rect l="l" t="t" r="r" b="b"/>
            <a:pathLst>
              <a:path w="4439172" h="2639289">
                <a:moveTo>
                  <a:pt x="0" y="0"/>
                </a:moveTo>
                <a:lnTo>
                  <a:pt x="4439172" y="0"/>
                </a:lnTo>
                <a:lnTo>
                  <a:pt x="4439172" y="2639290"/>
                </a:lnTo>
                <a:lnTo>
                  <a:pt x="0" y="26392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a:off x="11101247" y="-1367447"/>
            <a:ext cx="2792043" cy="2792043"/>
          </a:xfrm>
          <a:custGeom>
            <a:avLst/>
            <a:gdLst/>
            <a:ahLst/>
            <a:cxnLst/>
            <a:rect l="l" t="t" r="r" b="b"/>
            <a:pathLst>
              <a:path w="2792043" h="2792043">
                <a:moveTo>
                  <a:pt x="0" y="0"/>
                </a:moveTo>
                <a:lnTo>
                  <a:pt x="2792043" y="0"/>
                </a:lnTo>
                <a:lnTo>
                  <a:pt x="2792043" y="2792044"/>
                </a:lnTo>
                <a:lnTo>
                  <a:pt x="0" y="279204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6" name="Freeform 6"/>
          <p:cNvSpPr/>
          <p:nvPr/>
        </p:nvSpPr>
        <p:spPr>
          <a:xfrm>
            <a:off x="-826200" y="7786775"/>
            <a:ext cx="3709799" cy="3709799"/>
          </a:xfrm>
          <a:custGeom>
            <a:avLst/>
            <a:gdLst/>
            <a:ahLst/>
            <a:cxnLst/>
            <a:rect l="l" t="t" r="r" b="b"/>
            <a:pathLst>
              <a:path w="3709799" h="3709799">
                <a:moveTo>
                  <a:pt x="0" y="0"/>
                </a:moveTo>
                <a:lnTo>
                  <a:pt x="3709800" y="0"/>
                </a:lnTo>
                <a:lnTo>
                  <a:pt x="3709800" y="3709799"/>
                </a:lnTo>
                <a:lnTo>
                  <a:pt x="0" y="37097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8" name="Freeform 8"/>
          <p:cNvSpPr/>
          <p:nvPr/>
        </p:nvSpPr>
        <p:spPr>
          <a:xfrm>
            <a:off x="17259300" y="7458392"/>
            <a:ext cx="2426642" cy="3599816"/>
          </a:xfrm>
          <a:custGeom>
            <a:avLst/>
            <a:gdLst/>
            <a:ahLst/>
            <a:cxnLst/>
            <a:rect l="l" t="t" r="r" b="b"/>
            <a:pathLst>
              <a:path w="2426642" h="3599816">
                <a:moveTo>
                  <a:pt x="0" y="0"/>
                </a:moveTo>
                <a:lnTo>
                  <a:pt x="2426642" y="0"/>
                </a:lnTo>
                <a:lnTo>
                  <a:pt x="2426642" y="3599816"/>
                </a:lnTo>
                <a:lnTo>
                  <a:pt x="0" y="35998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extBox 1"/>
          <p:cNvSpPr txBox="1"/>
          <p:nvPr/>
        </p:nvSpPr>
        <p:spPr>
          <a:xfrm>
            <a:off x="1828800" y="3474720"/>
            <a:ext cx="14630400" cy="3657600"/>
          </a:xfrm>
          <a:prstGeom prst="rect">
            <a:avLst/>
          </a:prstGeom>
          <a:noFill/>
        </p:spPr>
        <p:txBody>
          <a:bodyPr wrap="square">
            <a:spAutoFit/>
          </a:bodyPr>
          <a:lstStyle/>
          <a:p>
            <a:pPr algn="ctr">
              <a:spcAft>
                <a:spcPts val="1400"/>
              </a:spcAft>
              <a:defRPr sz="5600" b="1">
                <a:solidFill>
                  <a:srgbClr val="1D2D68"/>
                </a:solidFill>
                <a:latin typeface="Segoe UI"/>
              </a:defRPr>
            </a:pPr>
            <a:r>
              <a:rPr dirty="0"/>
              <a:t>QUESTIONS &amp; ANSWERS</a:t>
            </a:r>
          </a:p>
          <a:p>
            <a:pPr algn="ctr">
              <a:spcAft>
                <a:spcPts val="1400"/>
              </a:spcAft>
              <a:defRPr sz="2400" b="1">
                <a:solidFill>
                  <a:srgbClr val="FFC72C"/>
                </a:solidFill>
                <a:latin typeface="Segoe UI"/>
              </a:defRPr>
            </a:pPr>
            <a:r>
              <a:rPr dirty="0"/>
              <a:t>Open Floor for Panel Inquiries &amp; Defense Committee Deliberation</a:t>
            </a:r>
          </a:p>
          <a:p>
            <a:pPr algn="ctr">
              <a:defRPr sz="1700">
                <a:solidFill>
                  <a:srgbClr val="64748B"/>
                </a:solidFill>
                <a:latin typeface="Segoe UI"/>
              </a:defRPr>
            </a:pPr>
            <a:r>
              <a:rPr dirty="0"/>
              <a:t>Philippines Real Estate Asking Prices Analytics &amp; Predictive Valuation Engine • Elective 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extBox 1"/>
          <p:cNvSpPr txBox="1"/>
          <p:nvPr/>
        </p:nvSpPr>
        <p:spPr>
          <a:xfrm>
            <a:off x="1028700" y="723900"/>
            <a:ext cx="16230600" cy="900000"/>
          </a:xfrm>
          <a:prstGeom prst="rect">
            <a:avLst/>
          </a:prstGeom>
          <a:noFill/>
        </p:spPr>
        <p:txBody>
          <a:bodyPr wrap="square">
            <a:spAutoFit/>
          </a:bodyPr>
          <a:lstStyle/>
          <a:p>
            <a:pPr>
              <a:defRPr sz="5400" b="1">
                <a:solidFill>
                  <a:srgbClr val="57306E"/>
                </a:solidFill>
                <a:latin typeface="Montserrat"/>
              </a:defRPr>
            </a:pPr>
            <a:r>
              <a:rPr dirty="0"/>
              <a:t>PANEL DEFENSE READINESS: ANTICIPATED Q&amp;A</a:t>
            </a:r>
          </a:p>
        </p:txBody>
      </p:sp>
      <p:sp>
        <p:nvSpPr>
          <p:cNvPr id="3" name="TextBox 2"/>
          <p:cNvSpPr txBox="1"/>
          <p:nvPr/>
        </p:nvSpPr>
        <p:spPr>
          <a:xfrm>
            <a:off x="1028700" y="2586100"/>
            <a:ext cx="16230600" cy="500000"/>
          </a:xfrm>
          <a:prstGeom prst="rect">
            <a:avLst/>
          </a:prstGeom>
          <a:noFill/>
        </p:spPr>
        <p:txBody>
          <a:bodyPr wrap="none">
            <a:spAutoFit/>
          </a:bodyPr>
          <a:lstStyle/>
          <a:p>
            <a:pPr>
              <a:defRPr sz="2600" b="1">
                <a:solidFill>
                  <a:srgbClr val="57306E"/>
                </a:solidFill>
                <a:latin typeface="Montserrat"/>
              </a:defRPr>
            </a:pPr>
            <a:r>
              <a:rPr dirty="0"/>
              <a:t>Model Answers for Methodological Trade-Offs and Statistical Dynamics</a:t>
            </a:r>
          </a:p>
        </p:txBody>
      </p:sp>
      <p:sp>
        <p:nvSpPr>
          <p:cNvPr id="4" name="TextBox 3"/>
          <p:cNvSpPr txBox="1"/>
          <p:nvPr/>
        </p:nvSpPr>
        <p:spPr>
          <a:xfrm>
            <a:off x="1028700" y="3488229"/>
            <a:ext cx="7800000" cy="6800000"/>
          </a:xfrm>
          <a:prstGeom prst="rect">
            <a:avLst/>
          </a:prstGeom>
          <a:noFill/>
        </p:spPr>
        <p:txBody>
          <a:bodyPr wrap="square">
            <a:spAutoFit/>
          </a:bodyPr>
          <a:lstStyle/>
          <a:p>
            <a:pPr>
              <a:lnSpc>
                <a:spcPct val="115000"/>
              </a:lnSpc>
              <a:spcAft>
                <a:spcPts val="1000"/>
              </a:spcAft>
            </a:pPr>
            <a:r>
              <a:rPr sz="2300" b="1" dirty="0">
                <a:solidFill>
                  <a:srgbClr val="57306E"/>
                </a:solidFill>
                <a:latin typeface="Montserrat"/>
              </a:rPr>
              <a:t>Question 1: Negative Bedroom Baseline &amp; Skewness</a:t>
            </a:r>
          </a:p>
          <a:p>
            <a:pPr>
              <a:lnSpc>
                <a:spcPct val="115000"/>
              </a:lnSpc>
              <a:spcAft>
                <a:spcPts val="1000"/>
              </a:spcAft>
            </a:pPr>
            <a:r>
              <a:rPr sz="1800" b="1" dirty="0">
                <a:solidFill>
                  <a:srgbClr val="57306E"/>
                </a:solidFill>
                <a:latin typeface="Montserrat"/>
              </a:rPr>
              <a:t>Panel Inquiry: </a:t>
            </a:r>
            <a:r>
              <a:rPr sz="1800" b="0" dirty="0">
                <a:solidFill>
                  <a:srgbClr val="57306E"/>
                </a:solidFill>
                <a:latin typeface="Montserrat"/>
              </a:rPr>
              <a:t>'Why did your initial raw regression have a negative coefficient for bedrooms (-PHP 2.88M), and how does your final model prove bedrooms add value?'</a:t>
            </a:r>
          </a:p>
          <a:p>
            <a:pPr>
              <a:lnSpc>
                <a:spcPct val="115000"/>
              </a:lnSpc>
              <a:spcAft>
                <a:spcPts val="800"/>
              </a:spcAft>
            </a:pPr>
            <a:r>
              <a:rPr sz="1800" b="1" dirty="0">
                <a:solidFill>
                  <a:srgbClr val="57306E"/>
                </a:solidFill>
                <a:latin typeface="Montserrat"/>
              </a:rPr>
              <a:t>Model Defense: </a:t>
            </a:r>
            <a:r>
              <a:rPr sz="1800" b="0" dirty="0">
                <a:solidFill>
                  <a:srgbClr val="57306E"/>
                </a:solidFill>
                <a:latin typeface="Montserrat"/>
              </a:rPr>
              <a:t>In raw unsegmented data, high-priced urban studio and 1-bedroom condominiums in Makati/BGC command high prices with low bedroom counts, while large provincial houses have 4–5 bedrooms at low prices. This created severe omitted variable bias.</a:t>
            </a:r>
          </a:p>
          <a:p>
            <a:pPr>
              <a:lnSpc>
                <a:spcPct val="115000"/>
              </a:lnSpc>
              <a:spcAft>
                <a:spcPts val="600"/>
              </a:spcAft>
            </a:pPr>
            <a:r>
              <a:rPr sz="1800" b="1" dirty="0">
                <a:solidFill>
                  <a:srgbClr val="57306E"/>
                </a:solidFill>
                <a:latin typeface="Montserrat"/>
              </a:rPr>
              <a:t>Resolution: </a:t>
            </a:r>
            <a:r>
              <a:rPr sz="1800" b="0" dirty="0">
                <a:solidFill>
                  <a:srgbClr val="57306E"/>
                </a:solidFill>
                <a:latin typeface="Montserrat"/>
              </a:rPr>
              <a:t>Once we log-transformed price, controlled for property type, and included geographic regions, bedrooms showed their true expected positive contribution (+8.71% per bedroom, p &lt; 0.001).</a:t>
            </a:r>
          </a:p>
        </p:txBody>
      </p:sp>
      <p:sp>
        <p:nvSpPr>
          <p:cNvPr id="5" name="TextBox 4"/>
          <p:cNvSpPr txBox="1"/>
          <p:nvPr/>
        </p:nvSpPr>
        <p:spPr>
          <a:xfrm>
            <a:off x="9144000" y="3487000"/>
            <a:ext cx="7900000" cy="6800000"/>
          </a:xfrm>
          <a:prstGeom prst="rect">
            <a:avLst/>
          </a:prstGeom>
          <a:noFill/>
        </p:spPr>
        <p:txBody>
          <a:bodyPr wrap="square">
            <a:spAutoFit/>
          </a:bodyPr>
          <a:lstStyle/>
          <a:p>
            <a:pPr>
              <a:lnSpc>
                <a:spcPct val="115000"/>
              </a:lnSpc>
              <a:spcAft>
                <a:spcPts val="1000"/>
              </a:spcAft>
            </a:pPr>
            <a:r>
              <a:rPr sz="2300" b="1" dirty="0">
                <a:solidFill>
                  <a:srgbClr val="57306E"/>
                </a:solidFill>
                <a:latin typeface="Montserrat"/>
              </a:rPr>
              <a:t>Question 2: Data Loss (241k to 15k Records)</a:t>
            </a:r>
          </a:p>
          <a:p>
            <a:pPr>
              <a:lnSpc>
                <a:spcPct val="115000"/>
              </a:lnSpc>
              <a:spcAft>
                <a:spcPts val="1000"/>
              </a:spcAft>
            </a:pPr>
            <a:r>
              <a:t>Panel Inquiry: 'You started with 241,496 listings but modeled on only 15,790. Does this introduce survivorship bias?'</a:t>
            </a:r>
          </a:p>
          <a:p>
            <a:pPr>
              <a:lnSpc>
                <a:spcPct val="115000"/>
              </a:lnSpc>
              <a:spcAft>
                <a:spcPts val="800"/>
              </a:spcAft>
            </a:pPr>
            <a:r>
              <a:rPr sz="1800" b="1" dirty="0">
                <a:solidFill>
                  <a:srgbClr val="57306E"/>
                </a:solidFill>
                <a:latin typeface="Montserrat"/>
              </a:rPr>
              <a:t>Model Defense: </a:t>
            </a:r>
            <a:r>
              <a:rPr sz="1800" b="0" dirty="0">
                <a:solidFill>
                  <a:srgbClr val="57306E"/>
                </a:solidFill>
                <a:latin typeface="Montserrat"/>
              </a:rPr>
              <a:t>The reduction is structured and defensible: (1) 79.3% were inactive/delisted records removed to represent current market conditions; (2) 20.3% were vacant lots which have no building floor area or bedrooms; (3) 62% lacked bathrooms.</a:t>
            </a:r>
          </a:p>
          <a:p>
            <a:pPr>
              <a:lnSpc>
                <a:spcPct val="115000"/>
              </a:lnSpc>
              <a:spcAft>
                <a:spcPts val="600"/>
              </a:spcAft>
            </a:pPr>
            <a:r>
              <a:rPr sz="1800" b="1" dirty="0">
                <a:solidFill>
                  <a:srgbClr val="57306E"/>
                </a:solidFill>
                <a:latin typeface="Montserrat"/>
              </a:rPr>
              <a:t>Resolution: </a:t>
            </a:r>
            <a:r>
              <a:rPr sz="1800" b="0" dirty="0">
                <a:solidFill>
                  <a:srgbClr val="57306E"/>
                </a:solidFill>
                <a:latin typeface="Montserrat"/>
              </a:rPr>
              <a:t>Complete-case analysis ensured verified parameters without imputed noise. While acknowledged as a limitation in Section 9.3, Random Forest test R² of 75.23% proves the model generalizes robustly to unseen active listings.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5053</Words>
  <Application>Microsoft Office PowerPoint</Application>
  <PresentationFormat>Custom</PresentationFormat>
  <Paragraphs>225</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Montserrat</vt:lpstr>
      <vt:lpstr>Montserrat Bold</vt:lpstr>
      <vt:lpstr>Arial</vt:lpstr>
      <vt:lpstr>Segoe UI</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Ellective</dc:title>
  <cp:lastModifiedBy>Cayaco, Peneil Francis S.</cp:lastModifiedBy>
  <cp:revision>7</cp:revision>
  <dcterms:created xsi:type="dcterms:W3CDTF">2006-08-16T00:00:00Z</dcterms:created>
  <dcterms:modified xsi:type="dcterms:W3CDTF">2026-10-20T05:08:36Z</dcterms:modified>
  <dc:identifier>DAHXzm1c0D4</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813f4b-519a-4481-a498-85770f517757_Enabled">
    <vt:lpwstr>true</vt:lpwstr>
  </property>
  <property fmtid="{D5CDD505-2E9C-101B-9397-08002B2CF9AE}" pid="3" name="MSIP_Label_8a813f4b-519a-4481-a498-85770f517757_SetDate">
    <vt:lpwstr>2026-10-20T00:15:22Z</vt:lpwstr>
  </property>
  <property fmtid="{D5CDD505-2E9C-101B-9397-08002B2CF9AE}" pid="4" name="MSIP_Label_8a813f4b-519a-4481-a498-85770f517757_Method">
    <vt:lpwstr>Standard</vt:lpwstr>
  </property>
  <property fmtid="{D5CDD505-2E9C-101B-9397-08002B2CF9AE}" pid="5" name="MSIP_Label_8a813f4b-519a-4481-a498-85770f517757_Name">
    <vt:lpwstr>Anyone (unrestricted)</vt:lpwstr>
  </property>
  <property fmtid="{D5CDD505-2E9C-101B-9397-08002B2CF9AE}" pid="6" name="MSIP_Label_8a813f4b-519a-4481-a498-85770f517757_SiteId">
    <vt:lpwstr>1d981f77-3ca3-46ae-b0d4-e8044e6c7f84</vt:lpwstr>
  </property>
  <property fmtid="{D5CDD505-2E9C-101B-9397-08002B2CF9AE}" pid="7" name="MSIP_Label_8a813f4b-519a-4481-a498-85770f517757_ActionId">
    <vt:lpwstr>152850af-f498-4c5c-88f7-8b6ac6cc8aa3</vt:lpwstr>
  </property>
  <property fmtid="{D5CDD505-2E9C-101B-9397-08002B2CF9AE}" pid="8" name="MSIP_Label_8a813f4b-519a-4481-a498-85770f517757_ContentBits">
    <vt:lpwstr>0</vt:lpwstr>
  </property>
  <property fmtid="{D5CDD505-2E9C-101B-9397-08002B2CF9AE}" pid="9" name="MSIP_Label_8a813f4b-519a-4481-a498-85770f517757_Tag">
    <vt:lpwstr>10, 3, 0, 1</vt:lpwstr>
  </property>
</Properties>
</file>